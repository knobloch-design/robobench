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the goal of the project, the architecture, the interfaces controllers work against, how tests are defined, and what gets built next. The code is currently a skeleton: interfaces and docstrings are defined, and most function bodies are stubs.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idea: the framework provides the simulation, the tests and the measurement, and the user brings only the controller. It is meant for other people to use, so fairness and reproducibility matter as much as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G1 covers locomotion, the LEAP hand covers dexterous manipulation, and the Trossen cell covers bimanual manipulation including soft objects. The Trossen joint counts, cameras and driver modes still need to be confirmed against Trossen's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controller never runs inside the simulator's program. The benchmark sends it an observation as a message, and it sends back an action. The controller side only needs the small SDK package, numpy and whatever its own model uses. Transport is ZeroMQ with msgpack, which also works across machines.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problems are what separate processes solve. The last one matters most for a benchmark: in a single program, a controller could reach into the simulator and read ground truth, even by accident while debugging.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loop that runs for every control step, 50 times a second of simulated time by default. The two checks between the controller and Drake are covered on the command safety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call order is on_connect once, then for every episode reset, many act calls and on_episode_end, then close. Users can let the benchmark launch the controller, or start it themselves, for example on a GPU machine, and point the benchmark at its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a test can check robustness: the same task with noisy encoders, a delayed camera or missing readings. Stages that use randomness draw from the episode's seed, so noisy runs are still reproducible.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Lockstep answers the question: how good are this controller's decisions? Real-time answers: how good are its decisions given how long it takes to make them? Latency is recorded as a metric either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Correcting commands can make a controller perform better, but hides how often it asks for impossible things. So the violations are always counted, and the mode travels with the results. Before any command exists, hold_last holds the current position, or sends zero torque for torque interfaces.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framework doesn't decide what a test is. It gives users these blocks, sensible defaults, and a registry so tests can be named in suites and on the command line. Contact-heavy tasks like cube rotation set their own physics settings instead of sharing one global setting.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ready-made test is a factory function with options, like terrain variant or tolerance, which suites can override. Soft-body support in Drake is newer and needs specific solver settings, so the soft pick test carries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Episodes are written as they finish, so a crash mid-run loses nothing and an interrupted run can be resumed. Controller crashes and timeouts count as failures, not missing data. Recordings are Meshcat replays saved as HTML files that open in any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harness does no motion control of its own: whatever the model outputs goes to the robot as-is, through the same checks as every other controller. Users supply the model adapter, so no provider is built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controller author installs only the SDK. The benchmark package depends on Drake and on the SDK, since the data types that cross between processes are defined once in the SDK.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LEAP hand comes first because it already loads and animates in Drake in the existing scripts. Step 4 is the milestone: one real test, run through the whole system with the example hold-position controller.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A24"/>
        </a:solidFill>
      </p:bgPr>
    </p:bg>
    <p:spTree>
      <p:nvGrpSpPr>
        <p:cNvPr id="1" name=""/>
        <p:cNvGrpSpPr/>
        <p:nvPr/>
      </p:nvGrpSpPr>
      <p:grpSpPr>
        <a:xfrm>
          <a:off x="0" y="0"/>
          <a:ext cx="0" cy="0"/>
          <a:chOff x="0" y="0"/>
          <a:chExt cx="0" cy="0"/>
        </a:xfrm>
      </p:grpSpPr>
      <p:sp>
        <p:nvSpPr>
          <p:cNvPr id="2" name="Text 0"/>
          <p:cNvSpPr/>
          <p:nvPr/>
        </p:nvSpPr>
        <p:spPr>
          <a:xfrm>
            <a:off x="812767" y="2184383"/>
            <a:ext cx="10883460" cy="345463"/>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E8963A"/>
                </a:solidFill>
                <a:latin typeface="JetBrains Mono" pitchFamily="34" charset="0"/>
                <a:ea typeface="JetBrains Mono" pitchFamily="34" charset="-122"/>
                <a:cs typeface="JetBrains Mono" pitchFamily="34" charset="-120"/>
              </a:rPr>
              <a:t>robobench</a:t>
            </a:r>
            <a:endParaRPr lang="en-US" sz="1800" dirty="0"/>
          </a:p>
        </p:txBody>
      </p:sp>
      <p:sp>
        <p:nvSpPr>
          <p:cNvPr id="3" name="Text 1"/>
          <p:cNvSpPr/>
          <p:nvPr/>
        </p:nvSpPr>
        <p:spPr>
          <a:xfrm>
            <a:off x="812767" y="2758447"/>
            <a:ext cx="10883460" cy="1366507"/>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F5F4EF"/>
                </a:solidFill>
                <a:latin typeface="IBM Plex Sans" pitchFamily="34" charset="0"/>
                <a:ea typeface="IBM Plex Sans" pitchFamily="34" charset="-122"/>
                <a:cs typeface="IBM Plex Sans" pitchFamily="34" charset="-120"/>
              </a:rPr>
              <a:t>Test any robot controller, in any situation</a:t>
            </a:r>
            <a:endParaRPr lang="en-US" sz="4800" dirty="0"/>
          </a:p>
        </p:txBody>
      </p:sp>
      <p:sp>
        <p:nvSpPr>
          <p:cNvPr id="4" name="Text 2"/>
          <p:cNvSpPr/>
          <p:nvPr/>
        </p:nvSpPr>
        <p:spPr>
          <a:xfrm>
            <a:off x="812767" y="4353553"/>
            <a:ext cx="10883460" cy="345463"/>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CC6D1"/>
                </a:solidFill>
                <a:latin typeface="IBM Plex Sans" pitchFamily="34" charset="0"/>
                <a:ea typeface="IBM Plex Sans" pitchFamily="34" charset="-122"/>
                <a:cs typeface="IBM Plex Sans" pitchFamily="34" charset="-120"/>
              </a:rPr>
              <a:t>A Drake-based benchmark framework: what it does and how it is designed</a:t>
            </a:r>
            <a:endParaRPr lang="en-US" sz="1800" dirty="0"/>
          </a:p>
        </p:txBody>
      </p:sp>
      <p:sp>
        <p:nvSpPr>
          <p:cNvPr id="5" name="Text 3"/>
          <p:cNvSpPr/>
          <p:nvPr/>
        </p:nvSpPr>
        <p:spPr>
          <a:xfrm>
            <a:off x="812767" y="6035146"/>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8"/>
                </a:solidFill>
                <a:latin typeface="IBM Plex Sans" pitchFamily="34" charset="0"/>
                <a:ea typeface="IBM Plex Sans" pitchFamily="34" charset="-122"/>
                <a:cs typeface="IBM Plex Sans" pitchFamily="34" charset="-120"/>
              </a:rPr>
              <a:t>Design overview · skeleton stage · 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767" y="812767"/>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20C"/>
                </a:solidFill>
                <a:latin typeface="IBM Plex Sans" pitchFamily="34" charset="0"/>
                <a:ea typeface="IBM Plex Sans" pitchFamily="34" charset="-122"/>
                <a:cs typeface="IBM Plex Sans" pitchFamily="34" charset="-120"/>
              </a:rPr>
              <a:t>THE GOAL</a:t>
            </a:r>
            <a:endParaRPr lang="en-US" sz="1200" dirty="0"/>
          </a:p>
        </p:txBody>
      </p:sp>
      <p:sp>
        <p:nvSpPr>
          <p:cNvPr id="3" name="Text 1"/>
          <p:cNvSpPr/>
          <p:nvPr/>
        </p:nvSpPr>
        <p:spPr>
          <a:xfrm>
            <a:off x="812767" y="1127621"/>
            <a:ext cx="10883460"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11A24"/>
                </a:solidFill>
                <a:latin typeface="IBM Plex Sans" pitchFamily="34" charset="0"/>
                <a:ea typeface="IBM Plex Sans" pitchFamily="34" charset="-122"/>
                <a:cs typeface="IBM Plex Sans" pitchFamily="34" charset="-120"/>
              </a:rPr>
              <a:t>One harness, any controller, many tests</a:t>
            </a:r>
            <a:endParaRPr lang="en-US" sz="3200" dirty="0"/>
          </a:p>
        </p:txBody>
      </p:sp>
      <p:sp>
        <p:nvSpPr>
          <p:cNvPr id="4" name="Shape 2"/>
          <p:cNvSpPr/>
          <p:nvPr/>
        </p:nvSpPr>
        <p:spPr>
          <a:xfrm>
            <a:off x="815942" y="2004499"/>
            <a:ext cx="3380317" cy="2528524"/>
          </a:xfrm>
          <a:prstGeom prst="roundRect">
            <a:avLst>
              <a:gd name="adj" fmla="val 3893"/>
            </a:avLst>
          </a:prstGeom>
          <a:solidFill>
            <a:srgbClr val="FCFBF8"/>
          </a:solidFill>
          <a:ln w="6350">
            <a:solidFill>
              <a:srgbClr val="DCD8CC"/>
            </a:solidFill>
            <a:prstDash val="solid"/>
          </a:ln>
        </p:spPr>
      </p:sp>
      <p:pic>
        <p:nvPicPr>
          <p:cNvPr id="5" name="Image 0" descr="Wrench">    </p:cNvPr>
          <p:cNvPicPr>
            <a:picLocks noChangeAspect="1"/>
          </p:cNvPicPr>
          <p:nvPr/>
        </p:nvPicPr>
        <p:blipFill>
          <a:blip r:embed="rId1"/>
          <a:srcRect l="0" r="0" t="0" b="0"/>
          <a:stretch/>
        </p:blipFill>
        <p:spPr>
          <a:xfrm>
            <a:off x="1122825" y="2311383"/>
            <a:ext cx="355534" cy="355534"/>
          </a:xfrm>
          <a:prstGeom prst="rect">
            <a:avLst/>
          </a:prstGeom>
        </p:spPr>
      </p:pic>
      <p:sp>
        <p:nvSpPr>
          <p:cNvPr id="6" name="Text 3"/>
          <p:cNvSpPr/>
          <p:nvPr/>
        </p:nvSpPr>
        <p:spPr>
          <a:xfrm>
            <a:off x="1122825" y="2793917"/>
            <a:ext cx="2849546"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11A24"/>
                </a:solidFill>
                <a:latin typeface="IBM Plex Sans" pitchFamily="34" charset="0"/>
                <a:ea typeface="IBM Plex Sans" pitchFamily="34" charset="-122"/>
                <a:cs typeface="IBM Plex Sans" pitchFamily="34" charset="-120"/>
              </a:rPr>
              <a:t>Plug in any controller</a:t>
            </a:r>
            <a:endParaRPr lang="en-US" sz="1800" dirty="0"/>
          </a:p>
        </p:txBody>
      </p:sp>
      <p:sp>
        <p:nvSpPr>
          <p:cNvPr id="7" name="Text 4"/>
          <p:cNvSpPr/>
          <p:nvPr/>
        </p:nvSpPr>
        <p:spPr>
          <a:xfrm>
            <a:off x="1122825" y="3195257"/>
            <a:ext cx="2849546" cy="1056283"/>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6505C"/>
                </a:solidFill>
                <a:latin typeface="IBM Plex Sans" pitchFamily="34" charset="0"/>
                <a:ea typeface="IBM Plex Sans" pitchFamily="34" charset="-122"/>
                <a:cs typeface="IBM Plex Sans" pitchFamily="34" charset="-120"/>
              </a:rPr>
              <a:t>Neural networks, LLMs, classical controllers, scripts: anything that turns an observation into a command.</a:t>
            </a:r>
            <a:endParaRPr lang="en-US" sz="1400" dirty="0"/>
          </a:p>
        </p:txBody>
      </p:sp>
      <p:sp>
        <p:nvSpPr>
          <p:cNvPr id="8" name="Shape 5"/>
          <p:cNvSpPr/>
          <p:nvPr/>
        </p:nvSpPr>
        <p:spPr>
          <a:xfrm>
            <a:off x="4405759" y="2004499"/>
            <a:ext cx="3380399" cy="2528524"/>
          </a:xfrm>
          <a:prstGeom prst="roundRect">
            <a:avLst>
              <a:gd name="adj" fmla="val 3893"/>
            </a:avLst>
          </a:prstGeom>
          <a:solidFill>
            <a:srgbClr val="FCFBF8"/>
          </a:solidFill>
          <a:ln w="6350">
            <a:solidFill>
              <a:srgbClr val="DCD8CC"/>
            </a:solidFill>
            <a:prstDash val="solid"/>
          </a:ln>
        </p:spPr>
      </p:sp>
      <p:pic>
        <p:nvPicPr>
          <p:cNvPr id="9" name="Image 1" descr="Play">    </p:cNvPr>
          <p:cNvPicPr>
            <a:picLocks noChangeAspect="1"/>
          </p:cNvPicPr>
          <p:nvPr/>
        </p:nvPicPr>
        <p:blipFill>
          <a:blip r:embed="rId2"/>
          <a:srcRect l="0" r="0" t="0" b="0"/>
          <a:stretch/>
        </p:blipFill>
        <p:spPr>
          <a:xfrm>
            <a:off x="4712643" y="2311383"/>
            <a:ext cx="355534" cy="355534"/>
          </a:xfrm>
          <a:prstGeom prst="rect">
            <a:avLst/>
          </a:prstGeom>
        </p:spPr>
      </p:pic>
      <p:sp>
        <p:nvSpPr>
          <p:cNvPr id="10" name="Text 6"/>
          <p:cNvSpPr/>
          <p:nvPr/>
        </p:nvSpPr>
        <p:spPr>
          <a:xfrm>
            <a:off x="4712643" y="2793917"/>
            <a:ext cx="2849631"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11A24"/>
                </a:solidFill>
                <a:latin typeface="IBM Plex Sans" pitchFamily="34" charset="0"/>
                <a:ea typeface="IBM Plex Sans" pitchFamily="34" charset="-122"/>
                <a:cs typeface="IBM Plex Sans" pitchFamily="34" charset="-120"/>
              </a:rPr>
              <a:t>Run standard tests</a:t>
            </a:r>
            <a:endParaRPr lang="en-US" sz="1800" dirty="0"/>
          </a:p>
        </p:txBody>
      </p:sp>
      <p:sp>
        <p:nvSpPr>
          <p:cNvPr id="11" name="Text 7"/>
          <p:cNvSpPr/>
          <p:nvPr/>
        </p:nvSpPr>
        <p:spPr>
          <a:xfrm>
            <a:off x="4712643" y="3195257"/>
            <a:ext cx="2849631" cy="798562"/>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6505C"/>
                </a:solidFill>
                <a:latin typeface="IBM Plex Sans" pitchFamily="34" charset="0"/>
                <a:ea typeface="IBM Plex Sans" pitchFamily="34" charset="-122"/>
                <a:cs typeface="IBM Plex Sans" pitchFamily="34" charset="-120"/>
              </a:rPr>
              <a:t>Walking over rocks, rotating a cube in-hand, lifting soft objects, with randomized starts and goals.</a:t>
            </a:r>
            <a:endParaRPr lang="en-US" sz="1400" dirty="0"/>
          </a:p>
        </p:txBody>
      </p:sp>
      <p:sp>
        <p:nvSpPr>
          <p:cNvPr id="12" name="Shape 8"/>
          <p:cNvSpPr/>
          <p:nvPr/>
        </p:nvSpPr>
        <p:spPr>
          <a:xfrm>
            <a:off x="7995658" y="2004499"/>
            <a:ext cx="3380399" cy="2528524"/>
          </a:xfrm>
          <a:prstGeom prst="roundRect">
            <a:avLst>
              <a:gd name="adj" fmla="val 3893"/>
            </a:avLst>
          </a:prstGeom>
          <a:solidFill>
            <a:srgbClr val="FCFBF8"/>
          </a:solidFill>
          <a:ln w="6350">
            <a:solidFill>
              <a:srgbClr val="DCD8CC"/>
            </a:solidFill>
            <a:prstDash val="solid"/>
          </a:ln>
        </p:spPr>
      </p:sp>
      <p:pic>
        <p:nvPicPr>
          <p:cNvPr id="13" name="Image 2" descr="Chart">    </p:cNvPr>
          <p:cNvPicPr>
            <a:picLocks noChangeAspect="1"/>
          </p:cNvPicPr>
          <p:nvPr/>
        </p:nvPicPr>
        <p:blipFill>
          <a:blip r:embed="rId3"/>
          <a:srcRect l="0" r="0" t="0" b="0"/>
          <a:stretch/>
        </p:blipFill>
        <p:spPr>
          <a:xfrm>
            <a:off x="8302542" y="2311383"/>
            <a:ext cx="355534" cy="355534"/>
          </a:xfrm>
          <a:prstGeom prst="rect">
            <a:avLst/>
          </a:prstGeom>
        </p:spPr>
      </p:pic>
      <p:sp>
        <p:nvSpPr>
          <p:cNvPr id="14" name="Text 9"/>
          <p:cNvSpPr/>
          <p:nvPr/>
        </p:nvSpPr>
        <p:spPr>
          <a:xfrm>
            <a:off x="8302542" y="2793917"/>
            <a:ext cx="2849631"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11A24"/>
                </a:solidFill>
                <a:latin typeface="IBM Plex Sans" pitchFamily="34" charset="0"/>
                <a:ea typeface="IBM Plex Sans" pitchFamily="34" charset="-122"/>
                <a:cs typeface="IBM Plex Sans" pitchFamily="34" charset="-120"/>
              </a:rPr>
              <a:t>Compare fairly</a:t>
            </a:r>
            <a:endParaRPr lang="en-US" sz="1800" dirty="0"/>
          </a:p>
        </p:txBody>
      </p:sp>
      <p:sp>
        <p:nvSpPr>
          <p:cNvPr id="15" name="Text 10"/>
          <p:cNvSpPr/>
          <p:nvPr/>
        </p:nvSpPr>
        <p:spPr>
          <a:xfrm>
            <a:off x="8302542" y="3195257"/>
            <a:ext cx="2849631" cy="798562"/>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6505C"/>
                </a:solidFill>
                <a:latin typeface="IBM Plex Sans" pitchFamily="34" charset="0"/>
                <a:ea typeface="IBM Plex Sans" pitchFamily="34" charset="-122"/>
                <a:cs typeface="IBM Plex Sans" pitchFamily="34" charset="-120"/>
              </a:rPr>
              <a:t>Same scenes, same seeds, same metrics. Every result records the settings it ran under.</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20C"/>
                </a:solidFill>
                <a:latin typeface="IBM Plex Sans" pitchFamily="34" charset="0"/>
                <a:ea typeface="IBM Plex Sans" pitchFamily="34" charset="-122"/>
                <a:cs typeface="IBM Plex Sans" pitchFamily="34" charset="-120"/>
              </a:rPr>
              <a:t>STARTING ROBOTS</a:t>
            </a:r>
            <a:endParaRPr lang="en-US" sz="1200" dirty="0"/>
          </a:p>
        </p:txBody>
      </p:sp>
      <p:sp>
        <p:nvSpPr>
          <p:cNvPr id="3" name="Text 1"/>
          <p:cNvSpPr/>
          <p:nvPr/>
        </p:nvSpPr>
        <p:spPr>
          <a:xfrm>
            <a:off x="812767" y="1127621"/>
            <a:ext cx="10883460"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11A24"/>
                </a:solidFill>
                <a:latin typeface="IBM Plex Sans" pitchFamily="34" charset="0"/>
                <a:ea typeface="IBM Plex Sans" pitchFamily="34" charset="-122"/>
                <a:cs typeface="IBM Plex Sans" pitchFamily="34" charset="-120"/>
              </a:rPr>
              <a:t>Three robots, three kinds of problem</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350" y="1961058"/>
          <a:ext cx="10555883" cy="1784118"/>
        </p:xfrm>
        <a:graphic>
          <a:graphicData uri="http://schemas.openxmlformats.org/drawingml/2006/table">
            <a:tbl>
              <a:tblPr/>
              <a:tblGrid>
                <a:gridCol w="2955647"/>
                <a:gridCol w="2744529"/>
                <a:gridCol w="2955647"/>
                <a:gridCol w="1900059"/>
              </a:tblGrid>
              <a:tr h="383811">
                <a:tc>
                  <a:txBody>
                    <a:bodyPr/>
                    <a:lstStyle/>
                    <a:p>
                      <a:pPr indent="0" marL="0">
                        <a:lnSpc>
                          <a:spcPts val="1960"/>
                        </a:lnSpc>
                        <a:buNone/>
                      </a:pPr>
                      <a:r>
                        <a:rPr lang="en-US" sz="1400" b="1" dirty="0">
                          <a:solidFill>
                            <a:srgbClr val="1B2430"/>
                          </a:solidFill>
                          <a:latin typeface="IBM Plex Sans" pitchFamily="34" charset="0"/>
                          <a:ea typeface="IBM Plex Sans" pitchFamily="34" charset="-122"/>
                          <a:cs typeface="IBM Plex Sans" pitchFamily="34" charset="-120"/>
                        </a:rPr>
                        <a:t>Robot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BBB8A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BB8AF"/>
                      </a:solidFill>
                      <a:prstDash val="solid"/>
                      <a:round/>
                      <a:headEnd type="none" w="med" len="med"/>
                      <a:tailEnd type="none" w="med" len="med"/>
                    </a:lnB>
                    <a:solidFill>
                      <a:srgbClr val="EAE6DB"/>
                    </a:solidFill>
                  </a:tcPr>
                </a:tc>
                <a:tc>
                  <a:txBody>
                    <a:bodyPr/>
                    <a:lstStyle/>
                    <a:p>
                      <a:pPr indent="0" marL="0">
                        <a:lnSpc>
                          <a:spcPts val="1960"/>
                        </a:lnSpc>
                        <a:buNone/>
                      </a:pPr>
                      <a:r>
                        <a:rPr lang="en-US" sz="1400" b="1" dirty="0">
                          <a:solidFill>
                            <a:srgbClr val="1B2430"/>
                          </a:solidFill>
                          <a:latin typeface="IBM Plex Sans" pitchFamily="34" charset="0"/>
                          <a:ea typeface="IBM Plex Sans" pitchFamily="34" charset="-122"/>
                          <a:cs typeface="IBM Plex Sans" pitchFamily="34" charset="-120"/>
                        </a:rPr>
                        <a:t>Kind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BB8AF"/>
                      </a:solidFill>
                      <a:prstDash val="solid"/>
                      <a:round/>
                      <a:headEnd type="none" w="med" len="med"/>
                      <a:tailEnd type="none" w="med" len="med"/>
                    </a:lnL>
                    <a:lnR w="12700" cap="flat" cmpd="sng" algn="ctr">
                      <a:solidFill>
                        <a:srgbClr val="BBB8A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BB8AF"/>
                      </a:solidFill>
                      <a:prstDash val="solid"/>
                      <a:round/>
                      <a:headEnd type="none" w="med" len="med"/>
                      <a:tailEnd type="none" w="med" len="med"/>
                    </a:lnB>
                    <a:solidFill>
                      <a:srgbClr val="EAE6DB"/>
                    </a:solidFill>
                  </a:tcPr>
                </a:tc>
                <a:tc>
                  <a:txBody>
                    <a:bodyPr/>
                    <a:lstStyle/>
                    <a:p>
                      <a:pPr indent="0" marL="0">
                        <a:lnSpc>
                          <a:spcPts val="1960"/>
                        </a:lnSpc>
                        <a:buNone/>
                      </a:pPr>
                      <a:r>
                        <a:rPr lang="en-US" sz="1400" b="1" dirty="0">
                          <a:solidFill>
                            <a:srgbClr val="1B2430"/>
                          </a:solidFill>
                          <a:latin typeface="IBM Plex Sans" pitchFamily="34" charset="0"/>
                          <a:ea typeface="IBM Plex Sans" pitchFamily="34" charset="-122"/>
                          <a:cs typeface="IBM Plex Sans" pitchFamily="34" charset="-120"/>
                        </a:rPr>
                        <a:t>Default command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BB8AF"/>
                      </a:solidFill>
                      <a:prstDash val="solid"/>
                      <a:round/>
                      <a:headEnd type="none" w="med" len="med"/>
                      <a:tailEnd type="none" w="med" len="med"/>
                    </a:lnL>
                    <a:lnR w="12700" cap="flat" cmpd="sng" algn="ctr">
                      <a:solidFill>
                        <a:srgbClr val="BBB8A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BB8AF"/>
                      </a:solidFill>
                      <a:prstDash val="solid"/>
                      <a:round/>
                      <a:headEnd type="none" w="med" len="med"/>
                      <a:tailEnd type="none" w="med" len="med"/>
                    </a:lnB>
                    <a:solidFill>
                      <a:srgbClr val="EAE6DB"/>
                    </a:solidFill>
                  </a:tcPr>
                </a:tc>
                <a:tc>
                  <a:txBody>
                    <a:bodyPr/>
                    <a:lstStyle/>
                    <a:p>
                      <a:pPr indent="0" marL="0">
                        <a:lnSpc>
                          <a:spcPts val="1960"/>
                        </a:lnSpc>
                        <a:buNone/>
                      </a:pPr>
                      <a:r>
                        <a:rPr lang="en-US" sz="1400" b="1" dirty="0">
                          <a:solidFill>
                            <a:srgbClr val="1B2430"/>
                          </a:solidFill>
                          <a:latin typeface="IBM Plex Sans" pitchFamily="34" charset="0"/>
                          <a:ea typeface="IBM Plex Sans" pitchFamily="34" charset="-122"/>
                          <a:cs typeface="IBM Plex Sans" pitchFamily="34" charset="-120"/>
                        </a:rPr>
                        <a:t>Also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BB8AF"/>
                      </a:solidFill>
                      <a:prstDash val="solid"/>
                      <a:round/>
                      <a:headEnd type="none" w="med" len="med"/>
                      <a:tailEnd type="none" w="med" len="med"/>
                    </a:lnL>
                    <a:lnR w="12700" cap="flat" cmpd="sng" algn="ctr">
                      <a:solidFill>
                        <a:srgbClr val="BBB8A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BB8AF"/>
                      </a:solidFill>
                      <a:prstDash val="solid"/>
                      <a:round/>
                      <a:headEnd type="none" w="med" len="med"/>
                      <a:tailEnd type="none" w="med" len="med"/>
                    </a:lnB>
                    <a:solidFill>
                      <a:srgbClr val="EAE6DB"/>
                    </a:solidFill>
                  </a:tcPr>
                </a:tc>
              </a:tr>
              <a:tr h="632685">
                <a:tc>
                  <a:txBody>
                    <a:bodyPr/>
                    <a:lstStyle/>
                    <a:p>
                      <a:pPr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Unitree G1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BB8A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Humanoid, floating base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BB8A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motor_command (q, dq, kp, kd, tau)</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BB8A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joint_torque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BB8A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83811">
                <a:tc>
                  <a:txBody>
                    <a:bodyPr/>
                    <a:lstStyle/>
                    <a:p>
                      <a:pPr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LEAP hand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C3BF"/>
                      </a:solidFill>
                      <a:prstDash val="solid"/>
                      <a:round/>
                      <a:headEnd type="none" w="med" len="med"/>
                      <a:tailEnd type="none" w="med" len="med"/>
                    </a:lnB>
                    <a:solidFill>
                      <a:srgbClr val="F5F4EF"/>
                    </a:solidFill>
                  </a:tcPr>
                </a:tc>
                <a:tc>
                  <a:txBody>
                    <a:bodyPr/>
                    <a:lstStyle/>
                    <a:p>
                      <a:pPr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16-joint dexterous hand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C3BF"/>
                      </a:solidFill>
                      <a:prstDash val="solid"/>
                      <a:round/>
                      <a:headEnd type="none" w="med" len="med"/>
                      <a:tailEnd type="none" w="med" len="med"/>
                    </a:lnB>
                    <a:solidFill>
                      <a:srgbClr val="F5F4EF"/>
                    </a:solidFill>
                  </a:tcPr>
                </a:tc>
                <a:tc>
                  <a:txBody>
                    <a:bodyPr/>
                    <a:lstStyle/>
                    <a:p>
                      <a:pPr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joint_position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C3BF"/>
                      </a:solidFill>
                      <a:prstDash val="solid"/>
                      <a:round/>
                      <a:headEnd type="none" w="med" len="med"/>
                      <a:tailEnd type="none" w="med" len="med"/>
                    </a:lnB>
                    <a:solidFill>
                      <a:srgbClr val="F5F4EF"/>
                    </a:solidFill>
                  </a:tcPr>
                </a:tc>
                <a:tc>
                  <a:txBody>
                    <a:bodyPr/>
                    <a:lstStyle/>
                    <a:p>
                      <a:pPr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joint_torque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C3BF"/>
                      </a:solidFill>
                      <a:prstDash val="solid"/>
                      <a:round/>
                      <a:headEnd type="none" w="med" len="med"/>
                      <a:tailEnd type="none" w="med" len="med"/>
                    </a:lnB>
                    <a:solidFill>
                      <a:srgbClr val="F5F4EF"/>
                    </a:solidFill>
                  </a:tcPr>
                </a:tc>
              </a:tr>
              <a:tr h="383811">
                <a:tc>
                  <a:txBody>
                    <a:bodyPr/>
                    <a:lstStyle/>
                    <a:p>
                      <a:pPr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Trossen Stationary AI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Two arms with grippers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joint_position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joint_torque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bl>
          </a:graphicData>
        </a:graphic>
      </p:graphicFrame>
      <p:sp>
        <p:nvSpPr>
          <p:cNvPr id="5" name="Text 2"/>
          <p:cNvSpPr/>
          <p:nvPr/>
        </p:nvSpPr>
        <p:spPr>
          <a:xfrm>
            <a:off x="812767" y="4100711"/>
            <a:ext cx="10883460" cy="540841"/>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46505C"/>
                </a:solidFill>
                <a:latin typeface="IBM Plex Sans" pitchFamily="34" charset="0"/>
                <a:ea typeface="IBM Plex Sans" pitchFamily="34" charset="-122"/>
                <a:cs typeface="IBM Plex Sans" pitchFamily="34" charset="-120"/>
              </a:rPr>
              <a:t>Hardware-level commands only:</a:t>
            </a:r>
            <a:r>
              <a:rPr lang="en-US" sz="1400" dirty="0">
                <a:solidFill>
                  <a:srgbClr val="46505C"/>
                </a:solidFill>
                <a:latin typeface="IBM Plex Sans" pitchFamily="34" charset="0"/>
                <a:ea typeface="IBM Plex Sans" pitchFamily="34" charset="-122"/>
                <a:cs typeface="IBM Plex Sans" pitchFamily="34" charset="-120"/>
              </a:rPr>
              <a:t> each robot accepts what its real driver accepts. No walking, inverse kinematics or other low-level controllers are shipped, so a controller that works here sends the same kind of commands it would send to the real robot.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20C"/>
                </a:solidFill>
                <a:latin typeface="IBM Plex Sans" pitchFamily="34" charset="0"/>
                <a:ea typeface="IBM Plex Sans" pitchFamily="34" charset="-122"/>
                <a:cs typeface="IBM Plex Sans" pitchFamily="34" charset="-120"/>
              </a:rPr>
              <a:t>ARCHITECTURE</a:t>
            </a:r>
            <a:endParaRPr lang="en-US" sz="1200" dirty="0"/>
          </a:p>
        </p:txBody>
      </p:sp>
      <p:sp>
        <p:nvSpPr>
          <p:cNvPr id="3" name="Text 1"/>
          <p:cNvSpPr/>
          <p:nvPr/>
        </p:nvSpPr>
        <p:spPr>
          <a:xfrm>
            <a:off x="812767" y="1127621"/>
            <a:ext cx="10883460"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11A24"/>
                </a:solidFill>
                <a:latin typeface="IBM Plex Sans" pitchFamily="34" charset="0"/>
                <a:ea typeface="IBM Plex Sans" pitchFamily="34" charset="-122"/>
                <a:cs typeface="IBM Plex Sans" pitchFamily="34" charset="-120"/>
              </a:rPr>
              <a:t>Two programs, talking by message</a:t>
            </a:r>
            <a:endParaRPr lang="en-US" sz="3200" dirty="0"/>
          </a:p>
        </p:txBody>
      </p:sp>
      <p:sp>
        <p:nvSpPr>
          <p:cNvPr id="4" name="Shape 2"/>
          <p:cNvSpPr/>
          <p:nvPr/>
        </p:nvSpPr>
        <p:spPr>
          <a:xfrm>
            <a:off x="819117" y="2038350"/>
            <a:ext cx="5575300" cy="3543300"/>
          </a:xfrm>
          <a:prstGeom prst="roundRect">
            <a:avLst>
              <a:gd name="adj" fmla="val 2688"/>
            </a:avLst>
          </a:prstGeom>
          <a:solidFill>
            <a:srgbClr val="FCFBF8"/>
          </a:solidFill>
          <a:ln w="12700">
            <a:solidFill>
              <a:srgbClr val="DCD8CC"/>
            </a:solidFill>
            <a:prstDash val="solid"/>
          </a:ln>
        </p:spPr>
      </p:sp>
      <p:sp>
        <p:nvSpPr>
          <p:cNvPr id="5" name="Text 3"/>
          <p:cNvSpPr/>
          <p:nvPr/>
        </p:nvSpPr>
        <p:spPr>
          <a:xfrm>
            <a:off x="1128117" y="2347350"/>
            <a:ext cx="5106018"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11A24"/>
                </a:solidFill>
                <a:latin typeface="IBM Plex Sans" pitchFamily="34" charset="0"/>
                <a:ea typeface="IBM Plex Sans" pitchFamily="34" charset="-122"/>
                <a:cs typeface="IBM Plex Sans" pitchFamily="34" charset="-120"/>
              </a:rPr>
              <a:t>Benchmark process</a:t>
            </a:r>
            <a:endParaRPr lang="en-US" sz="1800" dirty="0"/>
          </a:p>
        </p:txBody>
      </p:sp>
      <p:sp>
        <p:nvSpPr>
          <p:cNvPr id="6" name="Text 4"/>
          <p:cNvSpPr/>
          <p:nvPr/>
        </p:nvSpPr>
        <p:spPr>
          <a:xfrm>
            <a:off x="1128117" y="2723223"/>
            <a:ext cx="51060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4520C"/>
                </a:solidFill>
                <a:latin typeface="JetBrains Mono" pitchFamily="34" charset="0"/>
                <a:ea typeface="JetBrains Mono" pitchFamily="34" charset="-122"/>
                <a:cs typeface="JetBrains Mono" pitchFamily="34" charset="-120"/>
              </a:rPr>
              <a:t>robobench · has Drake</a:t>
            </a:r>
            <a:endParaRPr lang="en-US" sz="1200" dirty="0"/>
          </a:p>
        </p:txBody>
      </p:sp>
      <p:sp>
        <p:nvSpPr>
          <p:cNvPr id="7" name="Text 5"/>
          <p:cNvSpPr/>
          <p:nvPr/>
        </p:nvSpPr>
        <p:spPr>
          <a:xfrm>
            <a:off x="1128117" y="3038078"/>
            <a:ext cx="5106018" cy="1358652"/>
          </a:xfrm>
          <a:prstGeom prst="rect">
            <a:avLst/>
          </a:prstGeom>
          <a:noFill/>
          <a:ln/>
        </p:spPr>
        <p:txBody>
          <a:bodyPr wrap="square" lIns="0" tIns="0" rIns="0" bIns="0" rtlCol="0" anchor="t">
            <a:normAutofit/>
          </a:bodyPr>
          <a:lstStyle/>
          <a:p>
            <a:pPr algn="l" marL="213360" indent="-175768">
              <a:lnSpc>
                <a:spcPts val="2100"/>
              </a:lnSpc>
              <a:buSzPct val="100000"/>
              <a:buChar char="•"/>
            </a:pPr>
            <a:r>
              <a:rPr lang="en-US" sz="1400" dirty="0">
                <a:solidFill>
                  <a:srgbClr val="46505C"/>
                </a:solidFill>
                <a:latin typeface="IBM Plex Sans" pitchFamily="34" charset="0"/>
                <a:ea typeface="IBM Plex Sans" pitchFamily="34" charset="-122"/>
                <a:cs typeface="IBM Plex Sans" pitchFamily="34" charset="-120"/>
              </a:rPr>
              <a:t>Runner and parallel workers</a:t>
            </a:r>
            <a:endParaRPr lang="en-US" sz="1400" dirty="0"/>
          </a:p>
          <a:p>
            <a:pPr algn="l" marL="213360" indent="-175768">
              <a:lnSpc>
                <a:spcPts val="2100"/>
              </a:lnSpc>
              <a:buSzPct val="100000"/>
              <a:buChar char="•"/>
            </a:pPr>
            <a:r>
              <a:rPr lang="en-US" sz="1400" dirty="0">
                <a:solidFill>
                  <a:srgbClr val="46505C"/>
                </a:solidFill>
                <a:latin typeface="IBM Plex Sans" pitchFamily="34" charset="0"/>
                <a:ea typeface="IBM Plex Sans" pitchFamily="34" charset="-122"/>
                <a:cs typeface="IBM Plex Sans" pitchFamily="34" charset="-120"/>
              </a:rPr>
              <a:t>Drake simulation of robot and scene</a:t>
            </a:r>
            <a:endParaRPr lang="en-US" sz="1400" dirty="0"/>
          </a:p>
          <a:p>
            <a:pPr algn="l" marL="213360" indent="-175768">
              <a:lnSpc>
                <a:spcPts val="2100"/>
              </a:lnSpc>
              <a:buSzPct val="100000"/>
              <a:buChar char="•"/>
            </a:pPr>
            <a:r>
              <a:rPr lang="en-US" sz="1400" dirty="0">
                <a:solidFill>
                  <a:srgbClr val="46505C"/>
                </a:solidFill>
                <a:latin typeface="IBM Plex Sans" pitchFamily="34" charset="0"/>
                <a:ea typeface="IBM Plex Sans" pitchFamily="34" charset="-122"/>
                <a:cs typeface="IBM Plex Sans" pitchFamily="34" charset="-120"/>
              </a:rPr>
              <a:t>Observation pipeline</a:t>
            </a:r>
            <a:endParaRPr lang="en-US" sz="1400" dirty="0"/>
          </a:p>
          <a:p>
            <a:pPr algn="l" marL="213360" indent="-175768">
              <a:lnSpc>
                <a:spcPts val="2100"/>
              </a:lnSpc>
              <a:buSzPct val="100000"/>
              <a:buChar char="•"/>
            </a:pPr>
            <a:r>
              <a:rPr lang="en-US" sz="1400" dirty="0">
                <a:solidFill>
                  <a:srgbClr val="46505C"/>
                </a:solidFill>
                <a:latin typeface="IBM Plex Sans" pitchFamily="34" charset="0"/>
                <a:ea typeface="IBM Plex Sans" pitchFamily="34" charset="-122"/>
                <a:cs typeface="IBM Plex Sans" pitchFamily="34" charset="-120"/>
              </a:rPr>
              <a:t>Command checks and limit validation</a:t>
            </a:r>
            <a:endParaRPr lang="en-US" sz="1400" dirty="0"/>
          </a:p>
          <a:p>
            <a:pPr algn="l" marL="213360" indent="-175768">
              <a:lnSpc>
                <a:spcPts val="2100"/>
              </a:lnSpc>
              <a:buSzPct val="100000"/>
              <a:buChar char="•"/>
            </a:pPr>
            <a:r>
              <a:rPr lang="en-US" sz="1400" dirty="0">
                <a:solidFill>
                  <a:srgbClr val="46505C"/>
                </a:solidFill>
                <a:latin typeface="IBM Plex Sans" pitchFamily="34" charset="0"/>
                <a:ea typeface="IBM Plex Sans" pitchFamily="34" charset="-122"/>
                <a:cs typeface="IBM Plex Sans" pitchFamily="34" charset="-120"/>
              </a:rPr>
              <a:t>Metrics, results and recordings</a:t>
            </a:r>
            <a:endParaRPr lang="en-US" sz="1400" dirty="0"/>
          </a:p>
        </p:txBody>
      </p:sp>
      <p:sp>
        <p:nvSpPr>
          <p:cNvPr id="8" name="Shape 6"/>
          <p:cNvSpPr/>
          <p:nvPr/>
        </p:nvSpPr>
        <p:spPr>
          <a:xfrm>
            <a:off x="7950150" y="2032000"/>
            <a:ext cx="3429000" cy="3556000"/>
          </a:xfrm>
          <a:prstGeom prst="roundRect">
            <a:avLst>
              <a:gd name="adj" fmla="val 2963"/>
            </a:avLst>
          </a:prstGeom>
          <a:solidFill>
            <a:srgbClr val="111A24"/>
          </a:solidFill>
          <a:ln/>
        </p:spPr>
      </p:sp>
      <p:sp>
        <p:nvSpPr>
          <p:cNvPr id="9" name="Text 7"/>
          <p:cNvSpPr/>
          <p:nvPr/>
        </p:nvSpPr>
        <p:spPr>
          <a:xfrm>
            <a:off x="8254917" y="2336766"/>
            <a:ext cx="2904050"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4EF"/>
                </a:solidFill>
                <a:latin typeface="IBM Plex Sans" pitchFamily="34" charset="0"/>
                <a:ea typeface="IBM Plex Sans" pitchFamily="34" charset="-122"/>
                <a:cs typeface="IBM Plex Sans" pitchFamily="34" charset="-120"/>
              </a:rPr>
              <a:t>Controller process</a:t>
            </a:r>
            <a:endParaRPr lang="en-US" sz="1800" dirty="0"/>
          </a:p>
        </p:txBody>
      </p:sp>
      <p:sp>
        <p:nvSpPr>
          <p:cNvPr id="10" name="Text 8"/>
          <p:cNvSpPr/>
          <p:nvPr/>
        </p:nvSpPr>
        <p:spPr>
          <a:xfrm>
            <a:off x="8254917" y="2712641"/>
            <a:ext cx="29040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963A"/>
                </a:solidFill>
                <a:latin typeface="JetBrains Mono" pitchFamily="34" charset="0"/>
                <a:ea typeface="JetBrains Mono" pitchFamily="34" charset="-122"/>
                <a:cs typeface="JetBrains Mono" pitchFamily="34" charset="-120"/>
              </a:rPr>
              <a:t>robobench_sdk · no Drake</a:t>
            </a:r>
            <a:endParaRPr lang="en-US" sz="1200" dirty="0"/>
          </a:p>
        </p:txBody>
      </p:sp>
      <p:sp>
        <p:nvSpPr>
          <p:cNvPr id="11" name="Text 9"/>
          <p:cNvSpPr/>
          <p:nvPr/>
        </p:nvSpPr>
        <p:spPr>
          <a:xfrm>
            <a:off x="8254917" y="3027494"/>
            <a:ext cx="2904050" cy="1092002"/>
          </a:xfrm>
          <a:prstGeom prst="rect">
            <a:avLst/>
          </a:prstGeom>
          <a:noFill/>
          <a:ln/>
        </p:spPr>
        <p:txBody>
          <a:bodyPr wrap="square" lIns="0" tIns="0" rIns="0" bIns="0" rtlCol="0" anchor="t">
            <a:normAutofit/>
          </a:bodyPr>
          <a:lstStyle/>
          <a:p>
            <a:pPr algn="l" marL="213360" indent="-175768">
              <a:lnSpc>
                <a:spcPts val="2100"/>
              </a:lnSpc>
              <a:buSzPct val="100000"/>
              <a:buChar char="•"/>
            </a:pPr>
            <a:r>
              <a:rPr lang="en-US" sz="1400" dirty="0">
                <a:solidFill>
                  <a:srgbClr val="BCC6D1"/>
                </a:solidFill>
                <a:latin typeface="IBM Plex Sans" pitchFamily="34" charset="0"/>
                <a:ea typeface="IBM Plex Sans" pitchFamily="34" charset="-122"/>
                <a:cs typeface="IBM Plex Sans" pitchFamily="34" charset="-120"/>
              </a:rPr>
              <a:t>Your controller: a neural net, an LLM, anything</a:t>
            </a:r>
            <a:endParaRPr lang="en-US" sz="1400" dirty="0"/>
          </a:p>
          <a:p>
            <a:pPr algn="l" marL="213360" indent="-175768">
              <a:lnSpc>
                <a:spcPts val="2100"/>
              </a:lnSpc>
              <a:buSzPct val="100000"/>
              <a:buChar char="•"/>
            </a:pPr>
            <a:r>
              <a:rPr lang="en-US" sz="1400" dirty="0">
                <a:solidFill>
                  <a:srgbClr val="BCC6D1"/>
                </a:solidFill>
                <a:latin typeface="IBM Plex Sans" pitchFamily="34" charset="0"/>
                <a:ea typeface="IBM Plex Sans" pitchFamily="34" charset="-122"/>
                <a:cs typeface="IBM Plex Sans" pitchFamily="34" charset="-120"/>
              </a:rPr>
              <a:t>Its own Python environment</a:t>
            </a:r>
            <a:endParaRPr lang="en-US" sz="1400" dirty="0"/>
          </a:p>
          <a:p>
            <a:pPr algn="l" marL="213360" indent="-175768">
              <a:lnSpc>
                <a:spcPts val="2100"/>
              </a:lnSpc>
              <a:buSzPct val="100000"/>
              <a:buChar char="•"/>
            </a:pPr>
            <a:r>
              <a:rPr lang="en-US" sz="1400" dirty="0">
                <a:solidFill>
                  <a:srgbClr val="BCC6D1"/>
                </a:solidFill>
                <a:latin typeface="IBM Plex Sans" pitchFamily="34" charset="0"/>
                <a:ea typeface="IBM Plex Sans" pitchFamily="34" charset="-122"/>
                <a:cs typeface="IBM Plex Sans" pitchFamily="34" charset="-120"/>
              </a:rPr>
              <a:t>Optional LLM harness</a:t>
            </a:r>
            <a:endParaRPr lang="en-US" sz="1400" dirty="0"/>
          </a:p>
        </p:txBody>
      </p:sp>
      <p:sp>
        <p:nvSpPr>
          <p:cNvPr id="12" name="Text 10"/>
          <p:cNvSpPr/>
          <p:nvPr/>
        </p:nvSpPr>
        <p:spPr>
          <a:xfrm>
            <a:off x="6375367" y="2895533"/>
            <a:ext cx="160018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B2430"/>
                </a:solidFill>
                <a:latin typeface="IBM Plex Sans" pitchFamily="34" charset="0"/>
                <a:ea typeface="IBM Plex Sans" pitchFamily="34" charset="-122"/>
                <a:cs typeface="IBM Plex Sans" pitchFamily="34" charset="-120"/>
              </a:rPr>
              <a:t>observation</a:t>
            </a:r>
            <a:endParaRPr lang="en-US" sz="1200" dirty="0"/>
          </a:p>
        </p:txBody>
      </p:sp>
      <p:pic>
        <p:nvPicPr>
          <p:cNvPr id="13" name="Image 0" descr="connector">    </p:cNvPr>
          <p:cNvPicPr>
            <a:picLocks noChangeAspect="1"/>
          </p:cNvPicPr>
          <p:nvPr/>
        </p:nvPicPr>
        <p:blipFill>
          <a:blip r:embed="rId1"/>
          <a:srcRect l="0" r="0" t="-2" b="-2"/>
          <a:stretch/>
        </p:blipFill>
        <p:spPr>
          <a:xfrm>
            <a:off x="6438883" y="3238500"/>
            <a:ext cx="1473150" cy="127000"/>
          </a:xfrm>
          <a:prstGeom prst="rect">
            <a:avLst/>
          </a:prstGeom>
        </p:spPr>
      </p:pic>
      <p:sp>
        <p:nvSpPr>
          <p:cNvPr id="14" name="Text 11"/>
          <p:cNvSpPr/>
          <p:nvPr/>
        </p:nvSpPr>
        <p:spPr>
          <a:xfrm>
            <a:off x="6375367" y="4038533"/>
            <a:ext cx="160018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B2430"/>
                </a:solidFill>
                <a:latin typeface="IBM Plex Sans" pitchFamily="34" charset="0"/>
                <a:ea typeface="IBM Plex Sans" pitchFamily="34" charset="-122"/>
                <a:cs typeface="IBM Plex Sans" pitchFamily="34" charset="-120"/>
              </a:rPr>
              <a:t>action</a:t>
            </a:r>
            <a:endParaRPr lang="en-US" sz="1200" dirty="0"/>
          </a:p>
        </p:txBody>
      </p:sp>
      <p:pic>
        <p:nvPicPr>
          <p:cNvPr id="15" name="Image 1" descr="connector">    </p:cNvPr>
          <p:cNvPicPr>
            <a:picLocks noChangeAspect="1"/>
          </p:cNvPicPr>
          <p:nvPr/>
        </p:nvPicPr>
        <p:blipFill>
          <a:blip r:embed="rId2"/>
          <a:srcRect l="0" r="0" t="-2" b="-2"/>
          <a:stretch/>
        </p:blipFill>
        <p:spPr>
          <a:xfrm>
            <a:off x="6438883" y="4381500"/>
            <a:ext cx="1473150" cy="127000"/>
          </a:xfrm>
          <a:prstGeom prst="rect">
            <a:avLst/>
          </a:prstGeom>
        </p:spPr>
      </p:pic>
      <p:sp>
        <p:nvSpPr>
          <p:cNvPr id="16" name="Text 12"/>
          <p:cNvSpPr/>
          <p:nvPr/>
        </p:nvSpPr>
        <p:spPr>
          <a:xfrm>
            <a:off x="6375367" y="4927533"/>
            <a:ext cx="160018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A7480"/>
                </a:solidFill>
                <a:latin typeface="JetBrains Mono" pitchFamily="34" charset="0"/>
                <a:ea typeface="JetBrains Mono" pitchFamily="34" charset="-122"/>
                <a:cs typeface="JetBrains Mono" pitchFamily="34" charset="-120"/>
              </a:rPr>
              <a:t>ZeroMQ</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20C"/>
                </a:solidFill>
                <a:latin typeface="IBM Plex Sans" pitchFamily="34" charset="0"/>
                <a:ea typeface="IBM Plex Sans" pitchFamily="34" charset="-122"/>
                <a:cs typeface="IBM Plex Sans" pitchFamily="34" charset="-120"/>
              </a:rPr>
              <a:t>WHY SEPARATE PROCESSES</a:t>
            </a:r>
            <a:endParaRPr lang="en-US" sz="1200" dirty="0"/>
          </a:p>
        </p:txBody>
      </p:sp>
      <p:sp>
        <p:nvSpPr>
          <p:cNvPr id="3" name="Text 1"/>
          <p:cNvSpPr/>
          <p:nvPr/>
        </p:nvSpPr>
        <p:spPr>
          <a:xfrm>
            <a:off x="812767" y="1127621"/>
            <a:ext cx="10883460"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11A24"/>
                </a:solidFill>
                <a:latin typeface="IBM Plex Sans" pitchFamily="34" charset="0"/>
                <a:ea typeface="IBM Plex Sans" pitchFamily="34" charset="-122"/>
                <a:cs typeface="IBM Plex Sans" pitchFamily="34" charset="-120"/>
              </a:rPr>
              <a:t>A controller can't break the benchmark</a:t>
            </a:r>
            <a:endParaRPr lang="en-US" sz="3200" dirty="0"/>
          </a:p>
        </p:txBody>
      </p:sp>
      <p:sp>
        <p:nvSpPr>
          <p:cNvPr id="4" name="Shape 2"/>
          <p:cNvSpPr/>
          <p:nvPr/>
        </p:nvSpPr>
        <p:spPr>
          <a:xfrm>
            <a:off x="815942" y="1902882"/>
            <a:ext cx="5175266" cy="1378165"/>
          </a:xfrm>
          <a:prstGeom prst="roundRect">
            <a:avLst>
              <a:gd name="adj" fmla="val 7142"/>
            </a:avLst>
          </a:prstGeom>
          <a:solidFill>
            <a:srgbClr val="FCFBF8"/>
          </a:solidFill>
          <a:ln w="6350">
            <a:solidFill>
              <a:srgbClr val="DCD8CC"/>
            </a:solidFill>
            <a:prstDash val="solid"/>
          </a:ln>
        </p:spPr>
      </p:sp>
      <p:sp>
        <p:nvSpPr>
          <p:cNvPr id="5" name="Text 3"/>
          <p:cNvSpPr/>
          <p:nvPr/>
        </p:nvSpPr>
        <p:spPr>
          <a:xfrm>
            <a:off x="1072059" y="2159000"/>
            <a:ext cx="4802924"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11A24"/>
                </a:solidFill>
                <a:latin typeface="IBM Plex Sans" pitchFamily="34" charset="0"/>
                <a:ea typeface="IBM Plex Sans" pitchFamily="34" charset="-122"/>
                <a:cs typeface="IBM Plex Sans" pitchFamily="34" charset="-120"/>
              </a:rPr>
              <a:t>No dependency conflicts</a:t>
            </a:r>
            <a:endParaRPr lang="en-US" sz="1800" dirty="0"/>
          </a:p>
        </p:txBody>
      </p:sp>
      <p:sp>
        <p:nvSpPr>
          <p:cNvPr id="6" name="Text 4"/>
          <p:cNvSpPr/>
          <p:nvPr/>
        </p:nvSpPr>
        <p:spPr>
          <a:xfrm>
            <a:off x="1072059" y="2509490"/>
            <a:ext cx="4802924" cy="5408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6505C"/>
                </a:solidFill>
                <a:latin typeface="IBM Plex Sans" pitchFamily="34" charset="0"/>
                <a:ea typeface="IBM Plex Sans" pitchFamily="34" charset="-122"/>
                <a:cs typeface="IBM Plex Sans" pitchFamily="34" charset="-120"/>
              </a:rPr>
              <a:t>A controller that needs a different numpy or torch than Drake runs in its own environment.</a:t>
            </a:r>
            <a:endParaRPr lang="en-US" sz="1400" dirty="0"/>
          </a:p>
        </p:txBody>
      </p:sp>
      <p:sp>
        <p:nvSpPr>
          <p:cNvPr id="7" name="Shape 5"/>
          <p:cNvSpPr/>
          <p:nvPr/>
        </p:nvSpPr>
        <p:spPr>
          <a:xfrm>
            <a:off x="6200709" y="1902882"/>
            <a:ext cx="5175349" cy="1378165"/>
          </a:xfrm>
          <a:prstGeom prst="roundRect">
            <a:avLst>
              <a:gd name="adj" fmla="val 7142"/>
            </a:avLst>
          </a:prstGeom>
          <a:solidFill>
            <a:srgbClr val="FCFBF8"/>
          </a:solidFill>
          <a:ln w="6350">
            <a:solidFill>
              <a:srgbClr val="DCD8CC"/>
            </a:solidFill>
            <a:prstDash val="solid"/>
          </a:ln>
        </p:spPr>
      </p:sp>
      <p:sp>
        <p:nvSpPr>
          <p:cNvPr id="8" name="Text 6"/>
          <p:cNvSpPr/>
          <p:nvPr/>
        </p:nvSpPr>
        <p:spPr>
          <a:xfrm>
            <a:off x="6456825" y="2159000"/>
            <a:ext cx="4803009"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11A24"/>
                </a:solidFill>
                <a:latin typeface="IBM Plex Sans" pitchFamily="34" charset="0"/>
                <a:ea typeface="IBM Plex Sans" pitchFamily="34" charset="-122"/>
                <a:cs typeface="IBM Plex Sans" pitchFamily="34" charset="-120"/>
              </a:rPr>
              <a:t>Crashes stay contained</a:t>
            </a:r>
            <a:endParaRPr lang="en-US" sz="1800" dirty="0"/>
          </a:p>
        </p:txBody>
      </p:sp>
      <p:sp>
        <p:nvSpPr>
          <p:cNvPr id="9" name="Text 7"/>
          <p:cNvSpPr/>
          <p:nvPr/>
        </p:nvSpPr>
        <p:spPr>
          <a:xfrm>
            <a:off x="6456825" y="2509490"/>
            <a:ext cx="4803009" cy="5408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6505C"/>
                </a:solidFill>
                <a:latin typeface="IBM Plex Sans" pitchFamily="34" charset="0"/>
                <a:ea typeface="IBM Plex Sans" pitchFamily="34" charset="-122"/>
                <a:cs typeface="IBM Plex Sans" pitchFamily="34" charset="-120"/>
              </a:rPr>
              <a:t>If a model runs out of GPU memory, only its process dies. The run logs it, restarts it and moves on.</a:t>
            </a:r>
            <a:endParaRPr lang="en-US" sz="1400" dirty="0"/>
          </a:p>
        </p:txBody>
      </p:sp>
      <p:sp>
        <p:nvSpPr>
          <p:cNvPr id="10" name="Shape 8"/>
          <p:cNvSpPr/>
          <p:nvPr/>
        </p:nvSpPr>
        <p:spPr>
          <a:xfrm>
            <a:off x="815942" y="3490547"/>
            <a:ext cx="5175266" cy="1378165"/>
          </a:xfrm>
          <a:prstGeom prst="roundRect">
            <a:avLst>
              <a:gd name="adj" fmla="val 7142"/>
            </a:avLst>
          </a:prstGeom>
          <a:solidFill>
            <a:srgbClr val="FCFBF8"/>
          </a:solidFill>
          <a:ln w="6350">
            <a:solidFill>
              <a:srgbClr val="DCD8CC"/>
            </a:solidFill>
            <a:prstDash val="solid"/>
          </a:ln>
        </p:spPr>
      </p:sp>
      <p:sp>
        <p:nvSpPr>
          <p:cNvPr id="11" name="Text 9"/>
          <p:cNvSpPr/>
          <p:nvPr/>
        </p:nvSpPr>
        <p:spPr>
          <a:xfrm>
            <a:off x="1072059" y="3746664"/>
            <a:ext cx="4802924"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11A24"/>
                </a:solidFill>
                <a:latin typeface="IBM Plex Sans" pitchFamily="34" charset="0"/>
                <a:ea typeface="IBM Plex Sans" pitchFamily="34" charset="-122"/>
                <a:cs typeface="IBM Plex Sans" pitchFamily="34" charset="-120"/>
              </a:rPr>
              <a:t>Hangs become failures</a:t>
            </a:r>
            <a:endParaRPr lang="en-US" sz="1800" dirty="0"/>
          </a:p>
        </p:txBody>
      </p:sp>
      <p:sp>
        <p:nvSpPr>
          <p:cNvPr id="12" name="Text 10"/>
          <p:cNvSpPr/>
          <p:nvPr/>
        </p:nvSpPr>
        <p:spPr>
          <a:xfrm>
            <a:off x="1072059" y="4097155"/>
            <a:ext cx="4802924" cy="5408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6505C"/>
                </a:solidFill>
                <a:latin typeface="IBM Plex Sans" pitchFamily="34" charset="0"/>
                <a:ea typeface="IBM Plex Sans" pitchFamily="34" charset="-122"/>
                <a:cs typeface="IBM Plex Sans" pitchFamily="34" charset="-120"/>
              </a:rPr>
              <a:t>A stuck LLM call hits the step timeout, gets killed and is recorded, instead of freezing the run.</a:t>
            </a:r>
            <a:endParaRPr lang="en-US" sz="1400" dirty="0"/>
          </a:p>
        </p:txBody>
      </p:sp>
      <p:sp>
        <p:nvSpPr>
          <p:cNvPr id="13" name="Shape 11"/>
          <p:cNvSpPr/>
          <p:nvPr/>
        </p:nvSpPr>
        <p:spPr>
          <a:xfrm>
            <a:off x="6200709" y="3490547"/>
            <a:ext cx="5175349" cy="1378165"/>
          </a:xfrm>
          <a:prstGeom prst="roundRect">
            <a:avLst>
              <a:gd name="adj" fmla="val 7142"/>
            </a:avLst>
          </a:prstGeom>
          <a:solidFill>
            <a:srgbClr val="FCFBF8"/>
          </a:solidFill>
          <a:ln w="6350">
            <a:solidFill>
              <a:srgbClr val="DCD8CC"/>
            </a:solidFill>
            <a:prstDash val="solid"/>
          </a:ln>
        </p:spPr>
      </p:sp>
      <p:sp>
        <p:nvSpPr>
          <p:cNvPr id="14" name="Text 12"/>
          <p:cNvSpPr/>
          <p:nvPr/>
        </p:nvSpPr>
        <p:spPr>
          <a:xfrm>
            <a:off x="6456825" y="3746664"/>
            <a:ext cx="4803009"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11A24"/>
                </a:solidFill>
                <a:latin typeface="IBM Plex Sans" pitchFamily="34" charset="0"/>
                <a:ea typeface="IBM Plex Sans" pitchFamily="34" charset="-122"/>
                <a:cs typeface="IBM Plex Sans" pitchFamily="34" charset="-120"/>
              </a:rPr>
              <a:t>Results stay honest</a:t>
            </a:r>
            <a:endParaRPr lang="en-US" sz="1800" dirty="0"/>
          </a:p>
        </p:txBody>
      </p:sp>
      <p:sp>
        <p:nvSpPr>
          <p:cNvPr id="15" name="Text 13"/>
          <p:cNvSpPr/>
          <p:nvPr/>
        </p:nvSpPr>
        <p:spPr>
          <a:xfrm>
            <a:off x="6456825" y="4097155"/>
            <a:ext cx="4803009" cy="5408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6505C"/>
                </a:solidFill>
                <a:latin typeface="IBM Plex Sans" pitchFamily="34" charset="0"/>
                <a:ea typeface="IBM Plex Sans" pitchFamily="34" charset="-122"/>
                <a:cs typeface="IBM Plex Sans" pitchFamily="34" charset="-120"/>
              </a:rPr>
              <a:t>The controller only receives its observation, so it can't read true object positions from the simulator.</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20C"/>
                </a:solidFill>
                <a:latin typeface="IBM Plex Sans" pitchFamily="34" charset="0"/>
                <a:ea typeface="IBM Plex Sans" pitchFamily="34" charset="-122"/>
                <a:cs typeface="IBM Plex Sans" pitchFamily="34" charset="-120"/>
              </a:rPr>
              <a:t>ONE CONTROL STEP</a:t>
            </a:r>
            <a:endParaRPr lang="en-US" sz="1200" dirty="0"/>
          </a:p>
        </p:txBody>
      </p:sp>
      <p:sp>
        <p:nvSpPr>
          <p:cNvPr id="3" name="Text 1"/>
          <p:cNvSpPr/>
          <p:nvPr/>
        </p:nvSpPr>
        <p:spPr>
          <a:xfrm>
            <a:off x="812767" y="1127621"/>
            <a:ext cx="10883460"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11A24"/>
                </a:solidFill>
                <a:latin typeface="IBM Plex Sans" pitchFamily="34" charset="0"/>
                <a:ea typeface="IBM Plex Sans" pitchFamily="34" charset="-122"/>
                <a:cs typeface="IBM Plex Sans" pitchFamily="34" charset="-120"/>
              </a:rPr>
              <a:t>From sensors to motors, every step</a:t>
            </a:r>
            <a:endParaRPr lang="en-US" sz="3200" dirty="0"/>
          </a:p>
        </p:txBody>
      </p:sp>
      <p:sp>
        <p:nvSpPr>
          <p:cNvPr id="4" name="Shape 2"/>
          <p:cNvSpPr/>
          <p:nvPr/>
        </p:nvSpPr>
        <p:spPr>
          <a:xfrm>
            <a:off x="815942" y="2004498"/>
            <a:ext cx="1439102" cy="1096218"/>
          </a:xfrm>
          <a:prstGeom prst="roundRect">
            <a:avLst>
              <a:gd name="adj" fmla="val 6662"/>
            </a:avLst>
          </a:prstGeom>
          <a:solidFill>
            <a:srgbClr val="FCFBF8"/>
          </a:solidFill>
          <a:ln w="6350">
            <a:solidFill>
              <a:srgbClr val="DCD8CC"/>
            </a:solidFill>
            <a:prstDash val="solid"/>
          </a:ln>
        </p:spPr>
      </p:sp>
      <p:sp>
        <p:nvSpPr>
          <p:cNvPr id="5" name="Text 3"/>
          <p:cNvSpPr/>
          <p:nvPr/>
        </p:nvSpPr>
        <p:spPr>
          <a:xfrm>
            <a:off x="894192" y="2184381"/>
            <a:ext cx="1282601" cy="274274"/>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11A24"/>
                </a:solidFill>
                <a:latin typeface="IBM Plex Sans" pitchFamily="34" charset="0"/>
                <a:ea typeface="IBM Plex Sans" pitchFamily="34" charset="-122"/>
                <a:cs typeface="IBM Plex Sans" pitchFamily="34" charset="-120"/>
              </a:rPr>
              <a:t>Sensors</a:t>
            </a:r>
            <a:endParaRPr lang="en-US" sz="1400" dirty="0"/>
          </a:p>
        </p:txBody>
      </p:sp>
      <p:sp>
        <p:nvSpPr>
          <p:cNvPr id="6" name="Text 4"/>
          <p:cNvSpPr/>
          <p:nvPr/>
        </p:nvSpPr>
        <p:spPr>
          <a:xfrm>
            <a:off x="894192" y="2509407"/>
            <a:ext cx="1282601" cy="436827"/>
          </a:xfrm>
          <a:prstGeom prst="rect">
            <a:avLst/>
          </a:prstGeom>
          <a:noFill/>
          <a:ln/>
        </p:spPr>
        <p:txBody>
          <a:bodyPr wrap="square" lIns="0" tIns="0" rIns="0" bIns="0" rtlCol="0" anchor="t">
            <a:normAutofit/>
          </a:bodyPr>
          <a:lstStyle/>
          <a:p>
            <a:pPr algn="ctr" indent="0" marL="0">
              <a:lnSpc>
                <a:spcPts val="1620"/>
              </a:lnSpc>
              <a:buNone/>
            </a:pPr>
            <a:r>
              <a:rPr lang="en-US" sz="1200" dirty="0">
                <a:solidFill>
                  <a:srgbClr val="46505C"/>
                </a:solidFill>
                <a:latin typeface="IBM Plex Sans" pitchFamily="34" charset="0"/>
                <a:ea typeface="IBM Plex Sans" pitchFamily="34" charset="-122"/>
                <a:cs typeface="IBM Plex Sans" pitchFamily="34" charset="-120"/>
              </a:rPr>
              <a:t>joints, IMU, cameras</a:t>
            </a:r>
            <a:endParaRPr lang="en-US" sz="1200" dirty="0"/>
          </a:p>
        </p:txBody>
      </p:sp>
      <p:pic>
        <p:nvPicPr>
          <p:cNvPr id="7" name="Image 0" descr="arrow-right">    </p:cNvPr>
          <p:cNvPicPr>
            <a:picLocks noChangeAspect="1"/>
          </p:cNvPicPr>
          <p:nvPr/>
        </p:nvPicPr>
        <p:blipFill>
          <a:blip r:embed="rId1"/>
          <a:srcRect l="0" r="0" t="-15" b="-15"/>
          <a:stretch/>
        </p:blipFill>
        <p:spPr>
          <a:xfrm>
            <a:off x="2334369" y="2489067"/>
            <a:ext cx="228534" cy="127000"/>
          </a:xfrm>
          <a:prstGeom prst="rect">
            <a:avLst/>
          </a:prstGeom>
        </p:spPr>
      </p:pic>
      <p:sp>
        <p:nvSpPr>
          <p:cNvPr id="8" name="Shape 5"/>
          <p:cNvSpPr/>
          <p:nvPr/>
        </p:nvSpPr>
        <p:spPr>
          <a:xfrm>
            <a:off x="2642228" y="2004498"/>
            <a:ext cx="1439184" cy="1096218"/>
          </a:xfrm>
          <a:prstGeom prst="roundRect">
            <a:avLst>
              <a:gd name="adj" fmla="val 6662"/>
            </a:avLst>
          </a:prstGeom>
          <a:solidFill>
            <a:srgbClr val="FCFBF8"/>
          </a:solidFill>
          <a:ln w="6350">
            <a:solidFill>
              <a:srgbClr val="DCD8CC"/>
            </a:solidFill>
            <a:prstDash val="solid"/>
          </a:ln>
        </p:spPr>
      </p:sp>
      <p:sp>
        <p:nvSpPr>
          <p:cNvPr id="9" name="Text 6"/>
          <p:cNvSpPr/>
          <p:nvPr/>
        </p:nvSpPr>
        <p:spPr>
          <a:xfrm>
            <a:off x="2720479" y="2184381"/>
            <a:ext cx="1282683" cy="274274"/>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11A24"/>
                </a:solidFill>
                <a:latin typeface="IBM Plex Sans" pitchFamily="34" charset="0"/>
                <a:ea typeface="IBM Plex Sans" pitchFamily="34" charset="-122"/>
                <a:cs typeface="IBM Plex Sans" pitchFamily="34" charset="-120"/>
              </a:rPr>
              <a:t>Pipeline</a:t>
            </a:r>
            <a:endParaRPr lang="en-US" sz="1400" dirty="0"/>
          </a:p>
        </p:txBody>
      </p:sp>
      <p:sp>
        <p:nvSpPr>
          <p:cNvPr id="10" name="Text 7"/>
          <p:cNvSpPr/>
          <p:nvPr/>
        </p:nvSpPr>
        <p:spPr>
          <a:xfrm>
            <a:off x="2720479" y="2509407"/>
            <a:ext cx="1282683" cy="436827"/>
          </a:xfrm>
          <a:prstGeom prst="rect">
            <a:avLst/>
          </a:prstGeom>
          <a:noFill/>
          <a:ln/>
        </p:spPr>
        <p:txBody>
          <a:bodyPr wrap="square" lIns="0" tIns="0" rIns="0" bIns="0" rtlCol="0" anchor="t">
            <a:normAutofit/>
          </a:bodyPr>
          <a:lstStyle/>
          <a:p>
            <a:pPr algn="ctr" indent="0" marL="0">
              <a:lnSpc>
                <a:spcPts val="1620"/>
              </a:lnSpc>
              <a:buNone/>
            </a:pPr>
            <a:r>
              <a:rPr lang="en-US" sz="1200" dirty="0">
                <a:solidFill>
                  <a:srgbClr val="46505C"/>
                </a:solidFill>
                <a:latin typeface="IBM Plex Sans" pitchFamily="34" charset="0"/>
                <a:ea typeface="IBM Plex Sans" pitchFamily="34" charset="-122"/>
                <a:cs typeface="IBM Plex Sans" pitchFamily="34" charset="-120"/>
              </a:rPr>
              <a:t>noise, delay, dropout</a:t>
            </a:r>
            <a:endParaRPr lang="en-US" sz="1200" dirty="0"/>
          </a:p>
        </p:txBody>
      </p:sp>
      <p:pic>
        <p:nvPicPr>
          <p:cNvPr id="11" name="Image 1" descr="arrow-right">    </p:cNvPr>
          <p:cNvPicPr>
            <a:picLocks noChangeAspect="1"/>
          </p:cNvPicPr>
          <p:nvPr/>
        </p:nvPicPr>
        <p:blipFill>
          <a:blip r:embed="rId2"/>
          <a:srcRect l="0" r="0" t="-15" b="-15"/>
          <a:stretch/>
        </p:blipFill>
        <p:spPr>
          <a:xfrm>
            <a:off x="4160738" y="2489067"/>
            <a:ext cx="228534" cy="127000"/>
          </a:xfrm>
          <a:prstGeom prst="rect">
            <a:avLst/>
          </a:prstGeom>
        </p:spPr>
      </p:pic>
      <p:sp>
        <p:nvSpPr>
          <p:cNvPr id="12" name="Shape 8"/>
          <p:cNvSpPr/>
          <p:nvPr/>
        </p:nvSpPr>
        <p:spPr>
          <a:xfrm>
            <a:off x="4465422" y="2001323"/>
            <a:ext cx="1434868" cy="1102568"/>
          </a:xfrm>
          <a:prstGeom prst="roundRect">
            <a:avLst>
              <a:gd name="adj" fmla="val 6911"/>
            </a:avLst>
          </a:prstGeom>
          <a:solidFill>
            <a:srgbClr val="111A24"/>
          </a:solidFill>
          <a:ln/>
        </p:spPr>
      </p:sp>
      <p:sp>
        <p:nvSpPr>
          <p:cNvPr id="13" name="Text 9"/>
          <p:cNvSpPr/>
          <p:nvPr/>
        </p:nvSpPr>
        <p:spPr>
          <a:xfrm>
            <a:off x="4541556" y="2179092"/>
            <a:ext cx="1282601" cy="274274"/>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5F4EF"/>
                </a:solidFill>
                <a:latin typeface="IBM Plex Sans" pitchFamily="34" charset="0"/>
                <a:ea typeface="IBM Plex Sans" pitchFamily="34" charset="-122"/>
                <a:cs typeface="IBM Plex Sans" pitchFamily="34" charset="-120"/>
              </a:rPr>
              <a:t>Controller</a:t>
            </a:r>
            <a:endParaRPr lang="en-US" sz="1400" dirty="0"/>
          </a:p>
        </p:txBody>
      </p:sp>
      <p:sp>
        <p:nvSpPr>
          <p:cNvPr id="14" name="Text 10"/>
          <p:cNvSpPr/>
          <p:nvPr/>
        </p:nvSpPr>
        <p:spPr>
          <a:xfrm>
            <a:off x="4541556" y="2504114"/>
            <a:ext cx="1282601" cy="231114"/>
          </a:xfrm>
          <a:prstGeom prst="rect">
            <a:avLst/>
          </a:prstGeom>
          <a:noFill/>
          <a:ln/>
        </p:spPr>
        <p:txBody>
          <a:bodyPr wrap="square" lIns="0" tIns="0" rIns="0" bIns="0" rtlCol="0" anchor="t">
            <a:normAutofit/>
          </a:bodyPr>
          <a:lstStyle/>
          <a:p>
            <a:pPr algn="ctr" indent="0" marL="0">
              <a:lnSpc>
                <a:spcPts val="1620"/>
              </a:lnSpc>
              <a:buNone/>
            </a:pPr>
            <a:r>
              <a:rPr lang="en-US" sz="1200" dirty="0">
                <a:solidFill>
                  <a:srgbClr val="BCC6D1"/>
                </a:solidFill>
                <a:latin typeface="IBM Plex Sans" pitchFamily="34" charset="0"/>
                <a:ea typeface="IBM Plex Sans" pitchFamily="34" charset="-122"/>
                <a:cs typeface="IBM Plex Sans" pitchFamily="34" charset="-120"/>
              </a:rPr>
              <a:t>separate process</a:t>
            </a:r>
            <a:endParaRPr lang="en-US" sz="1200" dirty="0"/>
          </a:p>
        </p:txBody>
      </p:sp>
      <p:pic>
        <p:nvPicPr>
          <p:cNvPr id="15" name="Image 2" descr="arrow-right">    </p:cNvPr>
          <p:cNvPicPr>
            <a:picLocks noChangeAspect="1"/>
          </p:cNvPicPr>
          <p:nvPr/>
        </p:nvPicPr>
        <p:blipFill>
          <a:blip r:embed="rId3"/>
          <a:srcRect l="0" r="0" t="-15" b="-15"/>
          <a:stretch/>
        </p:blipFill>
        <p:spPr>
          <a:xfrm>
            <a:off x="5976441" y="2489067"/>
            <a:ext cx="228534" cy="127000"/>
          </a:xfrm>
          <a:prstGeom prst="rect">
            <a:avLst/>
          </a:prstGeom>
        </p:spPr>
      </p:pic>
      <p:sp>
        <p:nvSpPr>
          <p:cNvPr id="16" name="Shape 11"/>
          <p:cNvSpPr/>
          <p:nvPr/>
        </p:nvSpPr>
        <p:spPr>
          <a:xfrm>
            <a:off x="6284301" y="2004498"/>
            <a:ext cx="1439184" cy="1096218"/>
          </a:xfrm>
          <a:prstGeom prst="roundRect">
            <a:avLst>
              <a:gd name="adj" fmla="val 6662"/>
            </a:avLst>
          </a:prstGeom>
          <a:solidFill>
            <a:srgbClr val="FCFBF8"/>
          </a:solidFill>
          <a:ln w="6350">
            <a:solidFill>
              <a:srgbClr val="DCD8CC"/>
            </a:solidFill>
            <a:prstDash val="solid"/>
          </a:ln>
        </p:spPr>
      </p:sp>
      <p:sp>
        <p:nvSpPr>
          <p:cNvPr id="17" name="Text 12"/>
          <p:cNvSpPr/>
          <p:nvPr/>
        </p:nvSpPr>
        <p:spPr>
          <a:xfrm>
            <a:off x="6362551" y="2184381"/>
            <a:ext cx="1282683" cy="274274"/>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11A24"/>
                </a:solidFill>
                <a:latin typeface="IBM Plex Sans" pitchFamily="34" charset="0"/>
                <a:ea typeface="IBM Plex Sans" pitchFamily="34" charset="-122"/>
                <a:cs typeface="IBM Plex Sans" pitchFamily="34" charset="-120"/>
              </a:rPr>
              <a:t>Invalid check</a:t>
            </a:r>
            <a:endParaRPr lang="en-US" sz="1400" dirty="0"/>
          </a:p>
        </p:txBody>
      </p:sp>
      <p:sp>
        <p:nvSpPr>
          <p:cNvPr id="18" name="Text 13"/>
          <p:cNvSpPr/>
          <p:nvPr/>
        </p:nvSpPr>
        <p:spPr>
          <a:xfrm>
            <a:off x="6362551" y="2509407"/>
            <a:ext cx="1282683" cy="436827"/>
          </a:xfrm>
          <a:prstGeom prst="rect">
            <a:avLst/>
          </a:prstGeom>
          <a:noFill/>
          <a:ln/>
        </p:spPr>
        <p:txBody>
          <a:bodyPr wrap="square" lIns="0" tIns="0" rIns="0" bIns="0" rtlCol="0" anchor="t">
            <a:normAutofit/>
          </a:bodyPr>
          <a:lstStyle/>
          <a:p>
            <a:pPr algn="ctr" indent="0" marL="0">
              <a:lnSpc>
                <a:spcPts val="1620"/>
              </a:lnSpc>
              <a:buNone/>
            </a:pPr>
            <a:r>
              <a:rPr lang="en-US" sz="1200" dirty="0">
                <a:solidFill>
                  <a:srgbClr val="46505C"/>
                </a:solidFill>
                <a:latin typeface="IBM Plex Sans" pitchFamily="34" charset="0"/>
                <a:ea typeface="IBM Plex Sans" pitchFamily="34" charset="-122"/>
                <a:cs typeface="IBM Plex Sans" pitchFamily="34" charset="-120"/>
              </a:rPr>
              <a:t>NaN, inf, wrong shape</a:t>
            </a:r>
            <a:endParaRPr lang="en-US" sz="1200" dirty="0"/>
          </a:p>
        </p:txBody>
      </p:sp>
      <p:pic>
        <p:nvPicPr>
          <p:cNvPr id="19" name="Image 3" descr="arrow-right">    </p:cNvPr>
          <p:cNvPicPr>
            <a:picLocks noChangeAspect="1"/>
          </p:cNvPicPr>
          <p:nvPr/>
        </p:nvPicPr>
        <p:blipFill>
          <a:blip r:embed="rId4"/>
          <a:srcRect l="0" r="0" t="-15" b="-15"/>
          <a:stretch/>
        </p:blipFill>
        <p:spPr>
          <a:xfrm>
            <a:off x="7802811" y="2489067"/>
            <a:ext cx="228534" cy="127000"/>
          </a:xfrm>
          <a:prstGeom prst="rect">
            <a:avLst/>
          </a:prstGeom>
        </p:spPr>
      </p:pic>
      <p:sp>
        <p:nvSpPr>
          <p:cNvPr id="20" name="Shape 14"/>
          <p:cNvSpPr/>
          <p:nvPr/>
        </p:nvSpPr>
        <p:spPr>
          <a:xfrm>
            <a:off x="8110669" y="2004498"/>
            <a:ext cx="1439102" cy="1096218"/>
          </a:xfrm>
          <a:prstGeom prst="roundRect">
            <a:avLst>
              <a:gd name="adj" fmla="val 6662"/>
            </a:avLst>
          </a:prstGeom>
          <a:solidFill>
            <a:srgbClr val="FCFBF8"/>
          </a:solidFill>
          <a:ln w="6350">
            <a:solidFill>
              <a:srgbClr val="DCD8CC"/>
            </a:solidFill>
            <a:prstDash val="solid"/>
          </a:ln>
        </p:spPr>
      </p:sp>
      <p:sp>
        <p:nvSpPr>
          <p:cNvPr id="21" name="Text 15"/>
          <p:cNvSpPr/>
          <p:nvPr/>
        </p:nvSpPr>
        <p:spPr>
          <a:xfrm>
            <a:off x="8188920" y="2184381"/>
            <a:ext cx="1282601" cy="274274"/>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11A24"/>
                </a:solidFill>
                <a:latin typeface="IBM Plex Sans" pitchFamily="34" charset="0"/>
                <a:ea typeface="IBM Plex Sans" pitchFamily="34" charset="-122"/>
                <a:cs typeface="IBM Plex Sans" pitchFamily="34" charset="-120"/>
              </a:rPr>
              <a:t>Limit check</a:t>
            </a:r>
            <a:endParaRPr lang="en-US" sz="1400" dirty="0"/>
          </a:p>
        </p:txBody>
      </p:sp>
      <p:sp>
        <p:nvSpPr>
          <p:cNvPr id="22" name="Text 16"/>
          <p:cNvSpPr/>
          <p:nvPr/>
        </p:nvSpPr>
        <p:spPr>
          <a:xfrm>
            <a:off x="8188920" y="2509407"/>
            <a:ext cx="1282601" cy="436827"/>
          </a:xfrm>
          <a:prstGeom prst="rect">
            <a:avLst/>
          </a:prstGeom>
          <a:noFill/>
          <a:ln/>
        </p:spPr>
        <p:txBody>
          <a:bodyPr wrap="square" lIns="0" tIns="0" rIns="0" bIns="0" rtlCol="0" anchor="t">
            <a:normAutofit/>
          </a:bodyPr>
          <a:lstStyle/>
          <a:p>
            <a:pPr algn="ctr" indent="0" marL="0">
              <a:lnSpc>
                <a:spcPts val="1620"/>
              </a:lnSpc>
              <a:buNone/>
            </a:pPr>
            <a:r>
              <a:rPr lang="en-US" sz="1200" dirty="0">
                <a:solidFill>
                  <a:srgbClr val="46505C"/>
                </a:solidFill>
                <a:latin typeface="IBM Plex Sans" pitchFamily="34" charset="0"/>
                <a:ea typeface="IBM Plex Sans" pitchFamily="34" charset="-122"/>
                <a:cs typeface="IBM Plex Sans" pitchFamily="34" charset="-120"/>
              </a:rPr>
              <a:t>joint, speed, torque</a:t>
            </a:r>
            <a:endParaRPr lang="en-US" sz="1200" dirty="0"/>
          </a:p>
        </p:txBody>
      </p:sp>
      <p:pic>
        <p:nvPicPr>
          <p:cNvPr id="23" name="Image 4" descr="arrow-right">    </p:cNvPr>
          <p:cNvPicPr>
            <a:picLocks noChangeAspect="1"/>
          </p:cNvPicPr>
          <p:nvPr/>
        </p:nvPicPr>
        <p:blipFill>
          <a:blip r:embed="rId5"/>
          <a:srcRect l="0" r="0" t="-15" b="-15"/>
          <a:stretch/>
        </p:blipFill>
        <p:spPr>
          <a:xfrm>
            <a:off x="9629097" y="2489067"/>
            <a:ext cx="228534" cy="127000"/>
          </a:xfrm>
          <a:prstGeom prst="rect">
            <a:avLst/>
          </a:prstGeom>
        </p:spPr>
      </p:pic>
      <p:sp>
        <p:nvSpPr>
          <p:cNvPr id="24" name="Shape 17"/>
          <p:cNvSpPr/>
          <p:nvPr/>
        </p:nvSpPr>
        <p:spPr>
          <a:xfrm>
            <a:off x="9936956" y="2004498"/>
            <a:ext cx="1439102" cy="1096218"/>
          </a:xfrm>
          <a:prstGeom prst="roundRect">
            <a:avLst>
              <a:gd name="adj" fmla="val 6662"/>
            </a:avLst>
          </a:prstGeom>
          <a:solidFill>
            <a:srgbClr val="FCFBF8"/>
          </a:solidFill>
          <a:ln w="6350">
            <a:solidFill>
              <a:srgbClr val="DCD8CC"/>
            </a:solidFill>
            <a:prstDash val="solid"/>
          </a:ln>
        </p:spPr>
      </p:sp>
      <p:sp>
        <p:nvSpPr>
          <p:cNvPr id="25" name="Text 18"/>
          <p:cNvSpPr/>
          <p:nvPr/>
        </p:nvSpPr>
        <p:spPr>
          <a:xfrm>
            <a:off x="10015207" y="2184381"/>
            <a:ext cx="1282601" cy="274274"/>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11A24"/>
                </a:solidFill>
                <a:latin typeface="IBM Plex Sans" pitchFamily="34" charset="0"/>
                <a:ea typeface="IBM Plex Sans" pitchFamily="34" charset="-122"/>
                <a:cs typeface="IBM Plex Sans" pitchFamily="34" charset="-120"/>
              </a:rPr>
              <a:t>Drake step</a:t>
            </a:r>
            <a:endParaRPr lang="en-US" sz="1400" dirty="0"/>
          </a:p>
        </p:txBody>
      </p:sp>
      <p:sp>
        <p:nvSpPr>
          <p:cNvPr id="26" name="Text 19"/>
          <p:cNvSpPr/>
          <p:nvPr/>
        </p:nvSpPr>
        <p:spPr>
          <a:xfrm>
            <a:off x="10015207" y="2509407"/>
            <a:ext cx="1282601" cy="436827"/>
          </a:xfrm>
          <a:prstGeom prst="rect">
            <a:avLst/>
          </a:prstGeom>
          <a:noFill/>
          <a:ln/>
        </p:spPr>
        <p:txBody>
          <a:bodyPr wrap="square" lIns="0" tIns="0" rIns="0" bIns="0" rtlCol="0" anchor="t">
            <a:normAutofit/>
          </a:bodyPr>
          <a:lstStyle/>
          <a:p>
            <a:pPr algn="ctr" indent="0" marL="0">
              <a:lnSpc>
                <a:spcPts val="1620"/>
              </a:lnSpc>
              <a:buNone/>
            </a:pPr>
            <a:r>
              <a:rPr lang="en-US" sz="1200" dirty="0">
                <a:solidFill>
                  <a:srgbClr val="46505C"/>
                </a:solidFill>
                <a:latin typeface="IBM Plex Sans" pitchFamily="34" charset="0"/>
                <a:ea typeface="IBM Plex Sans" pitchFamily="34" charset="-122"/>
                <a:cs typeface="IBM Plex Sans" pitchFamily="34" charset="-120"/>
              </a:rPr>
              <a:t>one control period</a:t>
            </a:r>
            <a:endParaRPr lang="en-US" sz="1200" dirty="0"/>
          </a:p>
        </p:txBody>
      </p:sp>
      <p:sp>
        <p:nvSpPr>
          <p:cNvPr id="27" name="Text 20"/>
          <p:cNvSpPr/>
          <p:nvPr/>
        </p:nvSpPr>
        <p:spPr>
          <a:xfrm>
            <a:off x="812767" y="3510276"/>
            <a:ext cx="5337065" cy="798562"/>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46505C"/>
                </a:solidFill>
                <a:latin typeface="IBM Plex Sans" pitchFamily="34" charset="0"/>
                <a:ea typeface="IBM Plex Sans" pitchFamily="34" charset="-122"/>
                <a:cs typeface="IBM Plex Sans" pitchFamily="34" charset="-120"/>
              </a:rPr>
              <a:t>After each step:</a:t>
            </a:r>
            <a:r>
              <a:rPr lang="en-US" sz="1400" dirty="0">
                <a:solidFill>
                  <a:srgbClr val="46505C"/>
                </a:solidFill>
                <a:latin typeface="IBM Plex Sans" pitchFamily="34" charset="0"/>
                <a:ea typeface="IBM Plex Sans" pitchFamily="34" charset="-122"/>
                <a:cs typeface="IBM Plex Sans" pitchFamily="34" charset="-120"/>
              </a:rPr>
              <a:t> disturbances such as pushes apply, every metric records the step, and termination checks decide whether the episode is over.</a:t>
            </a:r>
            <a:endParaRPr lang="en-US" sz="1400" dirty="0"/>
          </a:p>
        </p:txBody>
      </p:sp>
      <p:sp>
        <p:nvSpPr>
          <p:cNvPr id="28" name="Text 21"/>
          <p:cNvSpPr/>
          <p:nvPr/>
        </p:nvSpPr>
        <p:spPr>
          <a:xfrm>
            <a:off x="6197534" y="3510276"/>
            <a:ext cx="5337150" cy="798562"/>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46505C"/>
                </a:solidFill>
                <a:latin typeface="IBM Plex Sans" pitchFamily="34" charset="0"/>
                <a:ea typeface="IBM Plex Sans" pitchFamily="34" charset="-122"/>
                <a:cs typeface="IBM Plex Sans" pitchFamily="34" charset="-120"/>
              </a:rPr>
              <a:t>Ground truth stays inside:</a:t>
            </a:r>
            <a:r>
              <a:rPr lang="en-US" sz="1400" dirty="0">
                <a:solidFill>
                  <a:srgbClr val="46505C"/>
                </a:solidFill>
                <a:latin typeface="IBM Plex Sans" pitchFamily="34" charset="0"/>
                <a:ea typeface="IBM Plex Sans" pitchFamily="34" charset="-122"/>
                <a:cs typeface="IBM Plex Sans" pitchFamily="34" charset="-120"/>
              </a:rPr>
              <a:t> goals, metrics and terminations read the true simulation state. The controller only ever sees the pipeline's output.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20C"/>
                </a:solidFill>
                <a:latin typeface="IBM Plex Sans" pitchFamily="34" charset="0"/>
                <a:ea typeface="IBM Plex Sans" pitchFamily="34" charset="-122"/>
                <a:cs typeface="IBM Plex Sans" pitchFamily="34" charset="-120"/>
              </a:rPr>
              <a:t>THE CONTROLLER INTERFACE</a:t>
            </a:r>
            <a:endParaRPr lang="en-US" sz="1200" dirty="0"/>
          </a:p>
        </p:txBody>
      </p:sp>
      <p:sp>
        <p:nvSpPr>
          <p:cNvPr id="3" name="Text 1"/>
          <p:cNvSpPr/>
          <p:nvPr/>
        </p:nvSpPr>
        <p:spPr>
          <a:xfrm>
            <a:off x="812767" y="1127621"/>
            <a:ext cx="10883460"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11A24"/>
                </a:solidFill>
                <a:latin typeface="IBM Plex Sans" pitchFamily="34" charset="0"/>
                <a:ea typeface="IBM Plex Sans" pitchFamily="34" charset="-122"/>
                <a:cs typeface="IBM Plex Sans" pitchFamily="34" charset="-120"/>
              </a:rPr>
              <a:t>Five hooks, one of them required</a:t>
            </a:r>
            <a:endParaRPr lang="en-US" sz="3200" dirty="0"/>
          </a:p>
        </p:txBody>
      </p:sp>
      <p:sp>
        <p:nvSpPr>
          <p:cNvPr id="4" name="Shape 2"/>
          <p:cNvSpPr/>
          <p:nvPr/>
        </p:nvSpPr>
        <p:spPr>
          <a:xfrm>
            <a:off x="812767" y="1950473"/>
            <a:ext cx="5588000" cy="3009387"/>
          </a:xfrm>
          <a:prstGeom prst="roundRect">
            <a:avLst>
              <a:gd name="adj" fmla="val 3376"/>
            </a:avLst>
          </a:prstGeom>
          <a:solidFill>
            <a:srgbClr val="111A24"/>
          </a:solidFill>
          <a:ln/>
        </p:spPr>
      </p:sp>
      <p:sp>
        <p:nvSpPr>
          <p:cNvPr id="5" name="Text 3"/>
          <p:cNvSpPr/>
          <p:nvPr/>
        </p:nvSpPr>
        <p:spPr>
          <a:xfrm>
            <a:off x="1117534" y="2255242"/>
            <a:ext cx="5127820" cy="2425254"/>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E6E2D6"/>
                </a:solidFill>
                <a:latin typeface="JetBrains Mono" pitchFamily="34" charset="0"/>
                <a:ea typeface="JetBrains Mono" pitchFamily="34" charset="-122"/>
                <a:cs typeface="JetBrains Mono" pitchFamily="34" charset="-120"/>
              </a:rPr>
              <a:t>from robobench_sdk import Controller</a:t>
            </a:r>
            <a:endParaRPr lang="en-US" sz="1400" dirty="0"/>
          </a:p>
          <a:p>
            <a:pPr algn="l" indent="0" marL="0">
              <a:lnSpc>
                <a:spcPts val="2100"/>
              </a:lnSpc>
              <a:buNone/>
            </a:pPr>
            <a:endParaRPr lang="en-US" sz="1400" dirty="0"/>
          </a:p>
          <a:p>
            <a:pPr algn="l" indent="0" marL="0">
              <a:lnSpc>
                <a:spcPts val="2100"/>
              </a:lnSpc>
              <a:buNone/>
            </a:pPr>
            <a:r>
              <a:rPr lang="en-US" sz="1400" dirty="0">
                <a:solidFill>
                  <a:srgbClr val="E6E2D6"/>
                </a:solidFill>
                <a:latin typeface="JetBrains Mono" pitchFamily="34" charset="0"/>
                <a:ea typeface="JetBrains Mono" pitchFamily="34" charset="-122"/>
                <a:cs typeface="JetBrains Mono" pitchFamily="34" charset="-120"/>
              </a:rPr>
              <a:t>class MyController(Controller):</a:t>
            </a:r>
            <a:endParaRPr lang="en-US" sz="1400" dirty="0"/>
          </a:p>
          <a:p>
            <a:pPr algn="l" indent="0" marL="0">
              <a:lnSpc>
                <a:spcPts val="2100"/>
              </a:lnSpc>
              <a:buNone/>
            </a:pPr>
            <a:r>
              <a:rPr lang="en-US" sz="1400" dirty="0">
                <a:solidFill>
                  <a:srgbClr val="E6E2D6"/>
                </a:solidFill>
                <a:latin typeface="JetBrains Mono" pitchFamily="34" charset="0"/>
                <a:ea typeface="JetBrains Mono" pitchFamily="34" charset="-122"/>
                <a:cs typeface="JetBrains Mono" pitchFamily="34" charset="-120"/>
              </a:rPr>
              <a:t>    def on_connect(self, session): ...</a:t>
            </a:r>
            <a:endParaRPr lang="en-US" sz="1400" dirty="0"/>
          </a:p>
          <a:p>
            <a:pPr algn="l" indent="0" marL="0">
              <a:lnSpc>
                <a:spcPts val="2100"/>
              </a:lnSpc>
              <a:buNone/>
            </a:pPr>
            <a:r>
              <a:rPr lang="en-US" sz="1400" dirty="0">
                <a:solidFill>
                  <a:srgbClr val="E6E2D6"/>
                </a:solidFill>
                <a:latin typeface="JetBrains Mono" pitchFamily="34" charset="0"/>
                <a:ea typeface="JetBrains Mono" pitchFamily="34" charset="-122"/>
                <a:cs typeface="JetBrains Mono" pitchFamily="34" charset="-120"/>
              </a:rPr>
              <a:t>    def reset(self, task): ...</a:t>
            </a:r>
            <a:endParaRPr lang="en-US" sz="1400" dirty="0"/>
          </a:p>
          <a:p>
            <a:pPr algn="l" indent="0" marL="0">
              <a:lnSpc>
                <a:spcPts val="2100"/>
              </a:lnSpc>
              <a:buNone/>
            </a:pPr>
            <a:r>
              <a:rPr lang="en-US" sz="1400" dirty="0">
                <a:solidFill>
                  <a:srgbClr val="E6E2D6"/>
                </a:solidFill>
                <a:latin typeface="JetBrains Mono" pitchFamily="34" charset="0"/>
                <a:ea typeface="JetBrains Mono" pitchFamily="34" charset="-122"/>
                <a:cs typeface="JetBrains Mono" pitchFamily="34" charset="-120"/>
              </a:rPr>
              <a:t>    </a:t>
            </a:r>
            <a:r>
              <a:rPr lang="en-US" sz="1400" dirty="0">
                <a:solidFill>
                  <a:srgbClr val="E8963A"/>
                </a:solidFill>
                <a:latin typeface="JetBrains Mono" pitchFamily="34" charset="0"/>
                <a:ea typeface="JetBrains Mono" pitchFamily="34" charset="-122"/>
                <a:cs typeface="JetBrains Mono" pitchFamily="34" charset="-120"/>
              </a:rPr>
              <a:t>def act(self, observation):</a:t>
            </a:r>
            <a:endParaRPr lang="en-US" sz="1400" dirty="0"/>
          </a:p>
          <a:p>
            <a:pPr algn="l" indent="0" marL="0">
              <a:lnSpc>
                <a:spcPts val="2100"/>
              </a:lnSpc>
              <a:buNone/>
            </a:pPr>
            <a:r>
              <a:rPr lang="en-US" sz="1400" dirty="0">
                <a:solidFill>
                  <a:srgbClr val="E6E2D6"/>
                </a:solidFill>
                <a:latin typeface="JetBrains Mono" pitchFamily="34" charset="0"/>
                <a:ea typeface="JetBrains Mono" pitchFamily="34" charset="-122"/>
                <a:cs typeface="JetBrains Mono" pitchFamily="34" charset="-120"/>
              </a:rPr>
              <a:t>        </a:t>
            </a:r>
            <a:r>
              <a:rPr lang="en-US" sz="1400" dirty="0">
                <a:solidFill>
                  <a:srgbClr val="E8963A"/>
                </a:solidFill>
                <a:latin typeface="JetBrains Mono" pitchFamily="34" charset="0"/>
                <a:ea typeface="JetBrains Mono" pitchFamily="34" charset="-122"/>
                <a:cs typeface="JetBrains Mono" pitchFamily="34" charset="-120"/>
              </a:rPr>
              <a:t>return {"q": policy(observation)}</a:t>
            </a:r>
            <a:endParaRPr lang="en-US" sz="1400" dirty="0"/>
          </a:p>
          <a:p>
            <a:pPr algn="l" indent="0" marL="0">
              <a:lnSpc>
                <a:spcPts val="2100"/>
              </a:lnSpc>
              <a:buNone/>
            </a:pPr>
            <a:r>
              <a:rPr lang="en-US" sz="1400" dirty="0">
                <a:solidFill>
                  <a:srgbClr val="E6E2D6"/>
                </a:solidFill>
                <a:latin typeface="JetBrains Mono" pitchFamily="34" charset="0"/>
                <a:ea typeface="JetBrains Mono" pitchFamily="34" charset="-122"/>
                <a:cs typeface="JetBrains Mono" pitchFamily="34" charset="-120"/>
              </a:rPr>
              <a:t>    def on_episode_end(self, summary): ...</a:t>
            </a:r>
            <a:endParaRPr lang="en-US" sz="1400" dirty="0"/>
          </a:p>
          <a:p>
            <a:pPr algn="l" indent="0" marL="0">
              <a:lnSpc>
                <a:spcPts val="2100"/>
              </a:lnSpc>
              <a:buNone/>
            </a:pPr>
            <a:r>
              <a:rPr lang="en-US" sz="1400" dirty="0">
                <a:solidFill>
                  <a:srgbClr val="E6E2D6"/>
                </a:solidFill>
                <a:latin typeface="JetBrains Mono" pitchFamily="34" charset="0"/>
                <a:ea typeface="JetBrains Mono" pitchFamily="34" charset="-122"/>
                <a:cs typeface="JetBrains Mono" pitchFamily="34" charset="-120"/>
              </a:rPr>
              <a:t>    def close(self): ...</a:t>
            </a:r>
            <a:endParaRPr lang="en-US" sz="1400" dirty="0"/>
          </a:p>
        </p:txBody>
      </p:sp>
      <p:sp>
        <p:nvSpPr>
          <p:cNvPr id="6" name="Text 4"/>
          <p:cNvSpPr/>
          <p:nvPr/>
        </p:nvSpPr>
        <p:spPr>
          <a:xfrm>
            <a:off x="6756301" y="1950473"/>
            <a:ext cx="4761620"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11A24"/>
                </a:solidFill>
                <a:latin typeface="IBM Plex Sans" pitchFamily="34" charset="0"/>
                <a:ea typeface="IBM Plex Sans" pitchFamily="34" charset="-122"/>
                <a:cs typeface="IBM Plex Sans" pitchFamily="34" charset="-120"/>
              </a:rPr>
              <a:t>Only act() is required</a:t>
            </a:r>
            <a:endParaRPr lang="en-US" sz="1800" dirty="0"/>
          </a:p>
        </p:txBody>
      </p:sp>
      <p:sp>
        <p:nvSpPr>
          <p:cNvPr id="7" name="Text 5"/>
          <p:cNvSpPr/>
          <p:nvPr/>
        </p:nvSpPr>
        <p:spPr>
          <a:xfrm>
            <a:off x="6756301" y="2275582"/>
            <a:ext cx="4761620" cy="28312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6505C"/>
                </a:solidFill>
                <a:latin typeface="IBM Plex Sans" pitchFamily="34" charset="0"/>
                <a:ea typeface="IBM Plex Sans" pitchFamily="34" charset="-122"/>
                <a:cs typeface="IBM Plex Sans" pitchFamily="34" charset="-120"/>
              </a:rPr>
              <a:t>The other hooks do nothing unless you override them.</a:t>
            </a:r>
            <a:endParaRPr lang="en-US" sz="1400" dirty="0"/>
          </a:p>
        </p:txBody>
      </p:sp>
      <p:sp>
        <p:nvSpPr>
          <p:cNvPr id="8" name="Text 6"/>
          <p:cNvSpPr/>
          <p:nvPr/>
        </p:nvSpPr>
        <p:spPr>
          <a:xfrm>
            <a:off x="6756301" y="2761835"/>
            <a:ext cx="4761620"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11A24"/>
                </a:solidFill>
                <a:latin typeface="IBM Plex Sans" pitchFamily="34" charset="0"/>
                <a:ea typeface="IBM Plex Sans" pitchFamily="34" charset="-122"/>
                <a:cs typeface="IBM Plex Sans" pitchFamily="34" charset="-120"/>
              </a:rPr>
              <a:t>Plain data in and out</a:t>
            </a:r>
            <a:endParaRPr lang="en-US" sz="1800" dirty="0"/>
          </a:p>
        </p:txBody>
      </p:sp>
      <p:sp>
        <p:nvSpPr>
          <p:cNvPr id="9" name="Text 7"/>
          <p:cNvSpPr/>
          <p:nvPr/>
        </p:nvSpPr>
        <p:spPr>
          <a:xfrm>
            <a:off x="6756301" y="3086943"/>
            <a:ext cx="4761620" cy="28312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6505C"/>
                </a:solidFill>
                <a:latin typeface="IBM Plex Sans" pitchFamily="34" charset="0"/>
                <a:ea typeface="IBM Plex Sans" pitchFamily="34" charset="-122"/>
                <a:cs typeface="IBM Plex Sans" pitchFamily="34" charset="-120"/>
              </a:rPr>
              <a:t>Numpy arrays, dicts and strings. Never simulator objects.</a:t>
            </a:r>
            <a:endParaRPr lang="en-US" sz="1400" dirty="0"/>
          </a:p>
        </p:txBody>
      </p:sp>
      <p:sp>
        <p:nvSpPr>
          <p:cNvPr id="10" name="Text 8"/>
          <p:cNvSpPr/>
          <p:nvPr/>
        </p:nvSpPr>
        <p:spPr>
          <a:xfrm>
            <a:off x="6756301" y="3573196"/>
            <a:ext cx="4761620"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11A24"/>
                </a:solidFill>
                <a:latin typeface="IBM Plex Sans" pitchFamily="34" charset="0"/>
                <a:ea typeface="IBM Plex Sans" pitchFamily="34" charset="-122"/>
                <a:cs typeface="IBM Plex Sans" pitchFamily="34" charset="-120"/>
              </a:rPr>
              <a:t>A handshake comes first</a:t>
            </a:r>
            <a:endParaRPr lang="en-US" sz="1800" dirty="0"/>
          </a:p>
        </p:txBody>
      </p:sp>
      <p:sp>
        <p:nvSpPr>
          <p:cNvPr id="11" name="Text 9"/>
          <p:cNvSpPr/>
          <p:nvPr/>
        </p:nvSpPr>
        <p:spPr>
          <a:xfrm>
            <a:off x="6756301" y="3898305"/>
            <a:ext cx="4761620" cy="5408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6505C"/>
                </a:solidFill>
                <a:latin typeface="IBM Plex Sans" pitchFamily="34" charset="0"/>
                <a:ea typeface="IBM Plex Sans" pitchFamily="34" charset="-122"/>
                <a:cs typeface="IBM Plex Sans" pitchFamily="34" charset="-120"/>
              </a:rPr>
              <a:t>The controller learns the robot, specs and timing, and can reject specs it can't handle.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20C"/>
                </a:solidFill>
                <a:latin typeface="IBM Plex Sans" pitchFamily="34" charset="0"/>
                <a:ea typeface="IBM Plex Sans" pitchFamily="34" charset="-122"/>
                <a:cs typeface="IBM Plex Sans" pitchFamily="34" charset="-120"/>
              </a:rPr>
              <a:t>OBSERVATIONS</a:t>
            </a:r>
            <a:endParaRPr lang="en-US" sz="1200" dirty="0"/>
          </a:p>
        </p:txBody>
      </p:sp>
      <p:sp>
        <p:nvSpPr>
          <p:cNvPr id="3" name="Text 1"/>
          <p:cNvSpPr/>
          <p:nvPr/>
        </p:nvSpPr>
        <p:spPr>
          <a:xfrm>
            <a:off x="812767" y="1127621"/>
            <a:ext cx="10883460"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11A24"/>
                </a:solidFill>
                <a:latin typeface="IBM Plex Sans" pitchFamily="34" charset="0"/>
                <a:ea typeface="IBM Plex Sans" pitchFamily="34" charset="-122"/>
                <a:cs typeface="IBM Plex Sans" pitchFamily="34" charset="-120"/>
              </a:rPr>
              <a:t>Real sensors by default, degraded on request</a:t>
            </a:r>
            <a:endParaRPr lang="en-US" sz="3200" dirty="0"/>
          </a:p>
        </p:txBody>
      </p:sp>
      <p:sp>
        <p:nvSpPr>
          <p:cNvPr id="4" name="Shape 2"/>
          <p:cNvSpPr/>
          <p:nvPr/>
        </p:nvSpPr>
        <p:spPr>
          <a:xfrm>
            <a:off x="815942" y="1953648"/>
            <a:ext cx="2406650" cy="2021020"/>
          </a:xfrm>
          <a:prstGeom prst="roundRect">
            <a:avLst>
              <a:gd name="adj" fmla="val 4870"/>
            </a:avLst>
          </a:prstGeom>
          <a:solidFill>
            <a:srgbClr val="FCFBF8"/>
          </a:solidFill>
          <a:ln w="6350">
            <a:solidFill>
              <a:srgbClr val="DCD8CC"/>
            </a:solidFill>
            <a:prstDash val="solid"/>
          </a:ln>
        </p:spPr>
      </p:sp>
      <p:sp>
        <p:nvSpPr>
          <p:cNvPr id="5" name="Text 3"/>
          <p:cNvSpPr/>
          <p:nvPr/>
        </p:nvSpPr>
        <p:spPr>
          <a:xfrm>
            <a:off x="1072059" y="2209766"/>
            <a:ext cx="1951249"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11A24"/>
                </a:solidFill>
                <a:latin typeface="IBM Plex Sans" pitchFamily="34" charset="0"/>
                <a:ea typeface="IBM Plex Sans" pitchFamily="34" charset="-122"/>
                <a:cs typeface="IBM Plex Sans" pitchFamily="34" charset="-120"/>
              </a:rPr>
              <a:t>Raw sensors</a:t>
            </a:r>
            <a:endParaRPr lang="en-US" sz="1800" dirty="0"/>
          </a:p>
        </p:txBody>
      </p:sp>
      <p:sp>
        <p:nvSpPr>
          <p:cNvPr id="6" name="Text 4"/>
          <p:cNvSpPr/>
          <p:nvPr/>
        </p:nvSpPr>
        <p:spPr>
          <a:xfrm>
            <a:off x="1072059" y="2560256"/>
            <a:ext cx="1951249" cy="1056283"/>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6505C"/>
                </a:solidFill>
                <a:latin typeface="IBM Plex Sans" pitchFamily="34" charset="0"/>
                <a:ea typeface="IBM Plex Sans" pitchFamily="34" charset="-122"/>
                <a:cs typeface="IBM Plex Sans" pitchFamily="34" charset="-120"/>
              </a:rPr>
              <a:t>Joint encoders, IMU, cameras and contact forces, as the real robot has them.</a:t>
            </a:r>
            <a:endParaRPr lang="en-US" sz="1400" dirty="0"/>
          </a:p>
        </p:txBody>
      </p:sp>
      <p:pic>
        <p:nvPicPr>
          <p:cNvPr id="7" name="Image 0" descr="arrow-right">    </p:cNvPr>
          <p:cNvPicPr>
            <a:picLocks noChangeAspect="1"/>
          </p:cNvPicPr>
          <p:nvPr/>
        </p:nvPicPr>
        <p:blipFill>
          <a:blip r:embed="rId1"/>
          <a:srcRect l="-3" r="-3" t="0" b="0"/>
          <a:stretch/>
        </p:blipFill>
        <p:spPr>
          <a:xfrm>
            <a:off x="3352767" y="2887926"/>
            <a:ext cx="279383" cy="152383"/>
          </a:xfrm>
          <a:prstGeom prst="rect">
            <a:avLst/>
          </a:prstGeom>
        </p:spPr>
      </p:pic>
      <p:sp>
        <p:nvSpPr>
          <p:cNvPr id="8" name="Shape 5"/>
          <p:cNvSpPr/>
          <p:nvPr/>
        </p:nvSpPr>
        <p:spPr>
          <a:xfrm>
            <a:off x="3765500" y="1956823"/>
            <a:ext cx="4660999" cy="2014670"/>
          </a:xfrm>
          <a:prstGeom prst="roundRect">
            <a:avLst>
              <a:gd name="adj" fmla="val 4728"/>
            </a:avLst>
          </a:prstGeom>
          <a:solidFill>
            <a:srgbClr val="FCFBF8"/>
          </a:solidFill>
          <a:ln w="12700">
            <a:solidFill>
              <a:srgbClr val="A4520C"/>
            </a:solidFill>
            <a:prstDash val="dash"/>
          </a:ln>
        </p:spPr>
      </p:sp>
      <p:sp>
        <p:nvSpPr>
          <p:cNvPr id="9" name="Text 6"/>
          <p:cNvSpPr/>
          <p:nvPr/>
        </p:nvSpPr>
        <p:spPr>
          <a:xfrm>
            <a:off x="4023733" y="2215059"/>
            <a:ext cx="4268868"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11A24"/>
                </a:solidFill>
                <a:latin typeface="IBM Plex Sans" pitchFamily="34" charset="0"/>
                <a:ea typeface="IBM Plex Sans" pitchFamily="34" charset="-122"/>
                <a:cs typeface="IBM Plex Sans" pitchFamily="34" charset="-120"/>
              </a:rPr>
              <a:t>Optional stages</a:t>
            </a:r>
            <a:endParaRPr lang="en-US" sz="1800" dirty="0"/>
          </a:p>
        </p:txBody>
      </p:sp>
      <p:sp>
        <p:nvSpPr>
          <p:cNvPr id="10" name="Shape 7"/>
          <p:cNvSpPr/>
          <p:nvPr/>
        </p:nvSpPr>
        <p:spPr>
          <a:xfrm>
            <a:off x="4023733" y="2616398"/>
            <a:ext cx="1285214" cy="314854"/>
          </a:xfrm>
          <a:prstGeom prst="roundRect">
            <a:avLst>
              <a:gd name="adj" fmla="val 50000"/>
            </a:avLst>
          </a:prstGeom>
          <a:solidFill>
            <a:srgbClr val="EFE2D0"/>
          </a:solidFill>
          <a:ln/>
        </p:spPr>
      </p:sp>
      <p:sp>
        <p:nvSpPr>
          <p:cNvPr id="11" name="Text 8"/>
          <p:cNvSpPr/>
          <p:nvPr/>
        </p:nvSpPr>
        <p:spPr>
          <a:xfrm>
            <a:off x="4150733" y="2667198"/>
            <a:ext cx="1082014"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430"/>
                </a:solidFill>
                <a:latin typeface="IBM Plex Sans" pitchFamily="34" charset="0"/>
                <a:ea typeface="IBM Plex Sans" pitchFamily="34" charset="-122"/>
                <a:cs typeface="IBM Plex Sans" pitchFamily="34" charset="-120"/>
              </a:rPr>
              <a:t>Gaussian noise</a:t>
            </a:r>
            <a:endParaRPr lang="en-US" sz="1200" dirty="0"/>
          </a:p>
        </p:txBody>
      </p:sp>
      <p:sp>
        <p:nvSpPr>
          <p:cNvPr id="12" name="Shape 9"/>
          <p:cNvSpPr/>
          <p:nvPr/>
        </p:nvSpPr>
        <p:spPr>
          <a:xfrm>
            <a:off x="5385098" y="2616398"/>
            <a:ext cx="547191" cy="314854"/>
          </a:xfrm>
          <a:prstGeom prst="roundRect">
            <a:avLst>
              <a:gd name="adj" fmla="val 50000"/>
            </a:avLst>
          </a:prstGeom>
          <a:solidFill>
            <a:srgbClr val="EFE2D0"/>
          </a:solidFill>
          <a:ln/>
        </p:spPr>
      </p:sp>
      <p:sp>
        <p:nvSpPr>
          <p:cNvPr id="13" name="Text 10"/>
          <p:cNvSpPr/>
          <p:nvPr/>
        </p:nvSpPr>
        <p:spPr>
          <a:xfrm>
            <a:off x="5512098" y="2667198"/>
            <a:ext cx="343991"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430"/>
                </a:solidFill>
                <a:latin typeface="IBM Plex Sans" pitchFamily="34" charset="0"/>
                <a:ea typeface="IBM Plex Sans" pitchFamily="34" charset="-122"/>
                <a:cs typeface="IBM Plex Sans" pitchFamily="34" charset="-120"/>
              </a:rPr>
              <a:t>Bias</a:t>
            </a:r>
            <a:endParaRPr lang="en-US" sz="1200" dirty="0"/>
          </a:p>
        </p:txBody>
      </p:sp>
      <p:sp>
        <p:nvSpPr>
          <p:cNvPr id="14" name="Shape 11"/>
          <p:cNvSpPr/>
          <p:nvPr/>
        </p:nvSpPr>
        <p:spPr>
          <a:xfrm>
            <a:off x="6008439" y="2616398"/>
            <a:ext cx="638059" cy="314854"/>
          </a:xfrm>
          <a:prstGeom prst="roundRect">
            <a:avLst>
              <a:gd name="adj" fmla="val 50000"/>
            </a:avLst>
          </a:prstGeom>
          <a:solidFill>
            <a:srgbClr val="EFE2D0"/>
          </a:solidFill>
          <a:ln/>
        </p:spPr>
      </p:sp>
      <p:sp>
        <p:nvSpPr>
          <p:cNvPr id="15" name="Text 12"/>
          <p:cNvSpPr/>
          <p:nvPr/>
        </p:nvSpPr>
        <p:spPr>
          <a:xfrm>
            <a:off x="6135439" y="2667198"/>
            <a:ext cx="434859"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430"/>
                </a:solidFill>
                <a:latin typeface="IBM Plex Sans" pitchFamily="34" charset="0"/>
                <a:ea typeface="IBM Plex Sans" pitchFamily="34" charset="-122"/>
                <a:cs typeface="IBM Plex Sans" pitchFamily="34" charset="-120"/>
              </a:rPr>
              <a:t>Delay</a:t>
            </a:r>
            <a:endParaRPr lang="en-US" sz="1200" dirty="0"/>
          </a:p>
        </p:txBody>
      </p:sp>
      <p:sp>
        <p:nvSpPr>
          <p:cNvPr id="16" name="Shape 13"/>
          <p:cNvSpPr/>
          <p:nvPr/>
        </p:nvSpPr>
        <p:spPr>
          <a:xfrm>
            <a:off x="6722649" y="2616398"/>
            <a:ext cx="810534" cy="314854"/>
          </a:xfrm>
          <a:prstGeom prst="roundRect">
            <a:avLst>
              <a:gd name="adj" fmla="val 50000"/>
            </a:avLst>
          </a:prstGeom>
          <a:solidFill>
            <a:srgbClr val="EFE2D0"/>
          </a:solidFill>
          <a:ln/>
        </p:spPr>
      </p:sp>
      <p:sp>
        <p:nvSpPr>
          <p:cNvPr id="17" name="Text 14"/>
          <p:cNvSpPr/>
          <p:nvPr/>
        </p:nvSpPr>
        <p:spPr>
          <a:xfrm>
            <a:off x="6849649" y="2667198"/>
            <a:ext cx="607334"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430"/>
                </a:solidFill>
                <a:latin typeface="IBM Plex Sans" pitchFamily="34" charset="0"/>
                <a:ea typeface="IBM Plex Sans" pitchFamily="34" charset="-122"/>
                <a:cs typeface="IBM Plex Sans" pitchFamily="34" charset="-120"/>
              </a:rPr>
              <a:t>Dropout</a:t>
            </a:r>
            <a:endParaRPr lang="en-US" sz="1200" dirty="0"/>
          </a:p>
        </p:txBody>
      </p:sp>
      <p:sp>
        <p:nvSpPr>
          <p:cNvPr id="18" name="Shape 15"/>
          <p:cNvSpPr/>
          <p:nvPr/>
        </p:nvSpPr>
        <p:spPr>
          <a:xfrm>
            <a:off x="4023733" y="3007401"/>
            <a:ext cx="1146555" cy="314854"/>
          </a:xfrm>
          <a:prstGeom prst="roundRect">
            <a:avLst>
              <a:gd name="adj" fmla="val 50000"/>
            </a:avLst>
          </a:prstGeom>
          <a:solidFill>
            <a:srgbClr val="EFE2D0"/>
          </a:solidFill>
          <a:ln/>
        </p:spPr>
      </p:sp>
      <p:sp>
        <p:nvSpPr>
          <p:cNvPr id="19" name="Text 16"/>
          <p:cNvSpPr/>
          <p:nvPr/>
        </p:nvSpPr>
        <p:spPr>
          <a:xfrm>
            <a:off x="4150733" y="3058201"/>
            <a:ext cx="943355"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430"/>
                </a:solidFill>
                <a:latin typeface="IBM Plex Sans" pitchFamily="34" charset="0"/>
                <a:ea typeface="IBM Plex Sans" pitchFamily="34" charset="-122"/>
                <a:cs typeface="IBM Plex Sans" pitchFamily="34" charset="-120"/>
              </a:rPr>
              <a:t>Downsample</a:t>
            </a:r>
            <a:endParaRPr lang="en-US" sz="1200" dirty="0"/>
          </a:p>
        </p:txBody>
      </p:sp>
      <p:sp>
        <p:nvSpPr>
          <p:cNvPr id="20" name="Shape 17"/>
          <p:cNvSpPr/>
          <p:nvPr/>
        </p:nvSpPr>
        <p:spPr>
          <a:xfrm>
            <a:off x="5246439" y="3007401"/>
            <a:ext cx="860805" cy="314854"/>
          </a:xfrm>
          <a:prstGeom prst="roundRect">
            <a:avLst>
              <a:gd name="adj" fmla="val 50000"/>
            </a:avLst>
          </a:prstGeom>
          <a:solidFill>
            <a:srgbClr val="EFE2D0"/>
          </a:solidFill>
          <a:ln/>
        </p:spPr>
      </p:sp>
      <p:sp>
        <p:nvSpPr>
          <p:cNvPr id="21" name="Text 18"/>
          <p:cNvSpPr/>
          <p:nvPr/>
        </p:nvSpPr>
        <p:spPr>
          <a:xfrm>
            <a:off x="5373439" y="3058201"/>
            <a:ext cx="657605"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430"/>
                </a:solidFill>
                <a:latin typeface="IBM Plex Sans" pitchFamily="34" charset="0"/>
                <a:ea typeface="IBM Plex Sans" pitchFamily="34" charset="-122"/>
                <a:cs typeface="IBM Plex Sans" pitchFamily="34" charset="-120"/>
              </a:rPr>
              <a:t>Quantize</a:t>
            </a:r>
            <a:endParaRPr lang="en-US" sz="1200" dirty="0"/>
          </a:p>
        </p:txBody>
      </p:sp>
      <p:sp>
        <p:nvSpPr>
          <p:cNvPr id="22" name="Shape 19"/>
          <p:cNvSpPr/>
          <p:nvPr/>
        </p:nvSpPr>
        <p:spPr>
          <a:xfrm>
            <a:off x="6183395" y="3007401"/>
            <a:ext cx="1149780" cy="314854"/>
          </a:xfrm>
          <a:prstGeom prst="roundRect">
            <a:avLst>
              <a:gd name="adj" fmla="val 50000"/>
            </a:avLst>
          </a:prstGeom>
          <a:solidFill>
            <a:srgbClr val="EFE2D0"/>
          </a:solidFill>
          <a:ln/>
        </p:spPr>
      </p:sp>
      <p:sp>
        <p:nvSpPr>
          <p:cNvPr id="23" name="Text 20"/>
          <p:cNvSpPr/>
          <p:nvPr/>
        </p:nvSpPr>
        <p:spPr>
          <a:xfrm>
            <a:off x="6310395" y="3058201"/>
            <a:ext cx="946580"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430"/>
                </a:solidFill>
                <a:latin typeface="IBM Plex Sans" pitchFamily="34" charset="0"/>
                <a:ea typeface="IBM Plex Sans" pitchFamily="34" charset="-122"/>
                <a:cs typeface="IBM Plex Sans" pitchFamily="34" charset="-120"/>
              </a:rPr>
              <a:t>Resize image</a:t>
            </a:r>
            <a:endParaRPr lang="en-US" sz="1200" dirty="0"/>
          </a:p>
        </p:txBody>
      </p:sp>
      <p:sp>
        <p:nvSpPr>
          <p:cNvPr id="24" name="Shape 21"/>
          <p:cNvSpPr/>
          <p:nvPr/>
        </p:nvSpPr>
        <p:spPr>
          <a:xfrm>
            <a:off x="4023733" y="3398407"/>
            <a:ext cx="995247" cy="314854"/>
          </a:xfrm>
          <a:prstGeom prst="roundRect">
            <a:avLst>
              <a:gd name="adj" fmla="val 50000"/>
            </a:avLst>
          </a:prstGeom>
          <a:solidFill>
            <a:srgbClr val="EFE2D0"/>
          </a:solidFill>
          <a:ln/>
        </p:spPr>
      </p:sp>
      <p:sp>
        <p:nvSpPr>
          <p:cNvPr id="25" name="Text 22"/>
          <p:cNvSpPr/>
          <p:nvPr/>
        </p:nvSpPr>
        <p:spPr>
          <a:xfrm>
            <a:off x="4150733" y="3449207"/>
            <a:ext cx="792047"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430"/>
                </a:solidFill>
                <a:latin typeface="IBM Plex Sans" pitchFamily="34" charset="0"/>
                <a:ea typeface="IBM Plex Sans" pitchFamily="34" charset="-122"/>
                <a:cs typeface="IBM Plex Sans" pitchFamily="34" charset="-120"/>
              </a:rPr>
              <a:t>Drop fields</a:t>
            </a:r>
            <a:endParaRPr lang="en-US" sz="1200" dirty="0"/>
          </a:p>
        </p:txBody>
      </p:sp>
      <p:pic>
        <p:nvPicPr>
          <p:cNvPr id="26" name="Image 1" descr="arrow-right">    </p:cNvPr>
          <p:cNvPicPr>
            <a:picLocks noChangeAspect="1"/>
          </p:cNvPicPr>
          <p:nvPr/>
        </p:nvPicPr>
        <p:blipFill>
          <a:blip r:embed="rId2"/>
          <a:srcRect l="-3" r="-3" t="0" b="0"/>
          <a:stretch/>
        </p:blipFill>
        <p:spPr>
          <a:xfrm>
            <a:off x="8559850" y="2887926"/>
            <a:ext cx="279383" cy="152383"/>
          </a:xfrm>
          <a:prstGeom prst="rect">
            <a:avLst/>
          </a:prstGeom>
        </p:spPr>
      </p:pic>
      <p:sp>
        <p:nvSpPr>
          <p:cNvPr id="27" name="Shape 23"/>
          <p:cNvSpPr/>
          <p:nvPr/>
        </p:nvSpPr>
        <p:spPr>
          <a:xfrm>
            <a:off x="8966233" y="1950473"/>
            <a:ext cx="2413000" cy="2027370"/>
          </a:xfrm>
          <a:prstGeom prst="roundRect">
            <a:avLst>
              <a:gd name="adj" fmla="val 5011"/>
            </a:avLst>
          </a:prstGeom>
          <a:solidFill>
            <a:srgbClr val="111A24"/>
          </a:solidFill>
          <a:ln/>
        </p:spPr>
      </p:sp>
      <p:sp>
        <p:nvSpPr>
          <p:cNvPr id="28" name="Text 24"/>
          <p:cNvSpPr/>
          <p:nvPr/>
        </p:nvSpPr>
        <p:spPr>
          <a:xfrm>
            <a:off x="9220233" y="2204473"/>
            <a:ext cx="1962150"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4EF"/>
                </a:solidFill>
                <a:latin typeface="IBM Plex Sans" pitchFamily="34" charset="0"/>
                <a:ea typeface="IBM Plex Sans" pitchFamily="34" charset="-122"/>
                <a:cs typeface="IBM Plex Sans" pitchFamily="34" charset="-120"/>
              </a:rPr>
              <a:t>Controller sees</a:t>
            </a:r>
            <a:endParaRPr lang="en-US" sz="1800" dirty="0"/>
          </a:p>
        </p:txBody>
      </p:sp>
      <p:sp>
        <p:nvSpPr>
          <p:cNvPr id="29" name="Text 25"/>
          <p:cNvSpPr/>
          <p:nvPr/>
        </p:nvSpPr>
        <p:spPr>
          <a:xfrm>
            <a:off x="9220233" y="2554963"/>
            <a:ext cx="1962150" cy="798562"/>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CC6D1"/>
                </a:solidFill>
                <a:latin typeface="IBM Plex Sans" pitchFamily="34" charset="0"/>
                <a:ea typeface="IBM Plex Sans" pitchFamily="34" charset="-122"/>
                <a:cs typeface="IBM Plex Sans" pitchFamily="34" charset="-120"/>
              </a:rPr>
              <a:t>The result, whose exact spec is sent in the handshake.</a:t>
            </a:r>
            <a:endParaRPr lang="en-US" sz="1400" dirty="0"/>
          </a:p>
        </p:txBody>
      </p:sp>
      <p:sp>
        <p:nvSpPr>
          <p:cNvPr id="30" name="Text 26"/>
          <p:cNvSpPr/>
          <p:nvPr/>
        </p:nvSpPr>
        <p:spPr>
          <a:xfrm>
            <a:off x="812767" y="4333379"/>
            <a:ext cx="10883460" cy="28312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6505C"/>
                </a:solidFill>
                <a:latin typeface="IBM Plex Sans" pitchFamily="34" charset="0"/>
                <a:ea typeface="IBM Plex Sans" pitchFamily="34" charset="-122"/>
                <a:cs typeface="IBM Plex Sans" pitchFamily="34" charset="-120"/>
              </a:rPr>
              <a:t>An empty pipeline passes sensors through unchanged. Stages are set per test or per suite entry:</a:t>
            </a:r>
            <a:endParaRPr lang="en-US" sz="1400" dirty="0"/>
          </a:p>
        </p:txBody>
      </p:sp>
      <p:sp>
        <p:nvSpPr>
          <p:cNvPr id="31" name="Text 27"/>
          <p:cNvSpPr/>
          <p:nvPr/>
        </p:nvSpPr>
        <p:spPr>
          <a:xfrm>
            <a:off x="812767" y="4667250"/>
            <a:ext cx="108834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4520C"/>
                </a:solidFill>
                <a:latin typeface="JetBrains Mono" pitchFamily="34" charset="0"/>
                <a:ea typeface="JetBrains Mono" pitchFamily="34" charset="-122"/>
                <a:cs typeface="JetBrains Mono" pitchFamily="34" charset="-120"/>
              </a:rPr>
              <a:t>- {type: gaussian_noise, field: joint_position, std: 0.01}</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20C"/>
                </a:solidFill>
                <a:latin typeface="IBM Plex Sans" pitchFamily="34" charset="0"/>
                <a:ea typeface="IBM Plex Sans" pitchFamily="34" charset="-122"/>
                <a:cs typeface="IBM Plex Sans" pitchFamily="34" charset="-120"/>
              </a:rPr>
              <a:t>TIMING</a:t>
            </a:r>
            <a:endParaRPr lang="en-US" sz="1200" dirty="0"/>
          </a:p>
        </p:txBody>
      </p:sp>
      <p:sp>
        <p:nvSpPr>
          <p:cNvPr id="3" name="Text 1"/>
          <p:cNvSpPr/>
          <p:nvPr/>
        </p:nvSpPr>
        <p:spPr>
          <a:xfrm>
            <a:off x="812767" y="1127621"/>
            <a:ext cx="10883460"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11A24"/>
                </a:solidFill>
                <a:latin typeface="IBM Plex Sans" pitchFamily="34" charset="0"/>
                <a:ea typeface="IBM Plex Sans" pitchFamily="34" charset="-122"/>
                <a:cs typeface="IBM Plex Sans" pitchFamily="34" charset="-120"/>
              </a:rPr>
              <a:t>Does the world wait for the controller?</a:t>
            </a:r>
            <a:endParaRPr lang="en-US" sz="3200" dirty="0"/>
          </a:p>
        </p:txBody>
      </p:sp>
      <p:sp>
        <p:nvSpPr>
          <p:cNvPr id="4" name="Shape 2"/>
          <p:cNvSpPr/>
          <p:nvPr/>
        </p:nvSpPr>
        <p:spPr>
          <a:xfrm>
            <a:off x="822292" y="1959998"/>
            <a:ext cx="5173150" cy="2069009"/>
          </a:xfrm>
          <a:prstGeom prst="roundRect">
            <a:avLst>
              <a:gd name="adj" fmla="val 4450"/>
            </a:avLst>
          </a:prstGeom>
          <a:solidFill>
            <a:srgbClr val="FCFBF8"/>
          </a:solidFill>
          <a:ln w="19050">
            <a:solidFill>
              <a:srgbClr val="A4520C"/>
            </a:solidFill>
            <a:prstDash val="solid"/>
          </a:ln>
        </p:spPr>
      </p:sp>
      <p:sp>
        <p:nvSpPr>
          <p:cNvPr id="5" name="Text 3"/>
          <p:cNvSpPr/>
          <p:nvPr/>
        </p:nvSpPr>
        <p:spPr>
          <a:xfrm>
            <a:off x="1133409" y="2278639"/>
            <a:ext cx="1001150"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11A24"/>
                </a:solidFill>
                <a:latin typeface="IBM Plex Sans" pitchFamily="34" charset="0"/>
                <a:ea typeface="IBM Plex Sans" pitchFamily="34" charset="-122"/>
                <a:cs typeface="IBM Plex Sans" pitchFamily="34" charset="-120"/>
              </a:rPr>
              <a:t>Lockstep</a:t>
            </a:r>
            <a:endParaRPr lang="en-US" sz="1800" dirty="0"/>
          </a:p>
        </p:txBody>
      </p:sp>
      <p:sp>
        <p:nvSpPr>
          <p:cNvPr id="6" name="Shape 4"/>
          <p:cNvSpPr/>
          <p:nvPr/>
        </p:nvSpPr>
        <p:spPr>
          <a:xfrm>
            <a:off x="2210759" y="2271117"/>
            <a:ext cx="747779" cy="289388"/>
          </a:xfrm>
          <a:prstGeom prst="roundRect">
            <a:avLst>
              <a:gd name="adj" fmla="val 50000"/>
            </a:avLst>
          </a:prstGeom>
          <a:solidFill>
            <a:srgbClr val="A4520C"/>
          </a:solidFill>
          <a:ln/>
        </p:spPr>
      </p:sp>
      <p:sp>
        <p:nvSpPr>
          <p:cNvPr id="7" name="Text 5"/>
          <p:cNvSpPr/>
          <p:nvPr/>
        </p:nvSpPr>
        <p:spPr>
          <a:xfrm>
            <a:off x="2325059" y="2309217"/>
            <a:ext cx="569979" cy="238588"/>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CFBF8"/>
                </a:solidFill>
                <a:latin typeface="IBM Plex Sans" pitchFamily="34" charset="0"/>
                <a:ea typeface="IBM Plex Sans" pitchFamily="34" charset="-122"/>
                <a:cs typeface="IBM Plex Sans" pitchFamily="34" charset="-120"/>
              </a:rPr>
              <a:t>Default</a:t>
            </a:r>
            <a:endParaRPr lang="en-US" sz="1200" dirty="0"/>
          </a:p>
        </p:txBody>
      </p:sp>
      <p:sp>
        <p:nvSpPr>
          <p:cNvPr id="8" name="Text 6"/>
          <p:cNvSpPr/>
          <p:nvPr/>
        </p:nvSpPr>
        <p:spPr>
          <a:xfrm>
            <a:off x="1133409" y="2687501"/>
            <a:ext cx="4687443" cy="825351"/>
          </a:xfrm>
          <a:prstGeom prst="rect">
            <a:avLst/>
          </a:prstGeom>
          <a:noFill/>
          <a:ln/>
        </p:spPr>
        <p:txBody>
          <a:bodyPr wrap="square" lIns="0" tIns="0" rIns="0" bIns="0" rtlCol="0" anchor="t">
            <a:normAutofit/>
          </a:bodyPr>
          <a:lstStyle/>
          <a:p>
            <a:pPr algn="l" marL="213360" indent="-175768">
              <a:lnSpc>
                <a:spcPts val="2100"/>
              </a:lnSpc>
              <a:buSzPct val="100000"/>
              <a:buChar char="•"/>
            </a:pPr>
            <a:r>
              <a:rPr lang="en-US" sz="1400" dirty="0">
                <a:solidFill>
                  <a:srgbClr val="46505C"/>
                </a:solidFill>
                <a:latin typeface="IBM Plex Sans" pitchFamily="34" charset="0"/>
                <a:ea typeface="IBM Plex Sans" pitchFamily="34" charset="-122"/>
                <a:cs typeface="IBM Plex Sans" pitchFamily="34" charset="-120"/>
              </a:rPr>
              <a:t>The simulation pauses while the controller computes.</a:t>
            </a:r>
            <a:endParaRPr lang="en-US" sz="1400" dirty="0"/>
          </a:p>
          <a:p>
            <a:pPr algn="l" marL="213360" indent="-175768">
              <a:lnSpc>
                <a:spcPts val="2100"/>
              </a:lnSpc>
              <a:buSzPct val="100000"/>
              <a:buChar char="•"/>
            </a:pPr>
            <a:r>
              <a:rPr lang="en-US" sz="1400" dirty="0">
                <a:solidFill>
                  <a:srgbClr val="46505C"/>
                </a:solidFill>
                <a:latin typeface="IBM Plex Sans" pitchFamily="34" charset="0"/>
                <a:ea typeface="IBM Plex Sans" pitchFamily="34" charset="-122"/>
                <a:cs typeface="IBM Plex Sans" pitchFamily="34" charset="-120"/>
              </a:rPr>
              <a:t>Latency changes how long a run takes, not its results.</a:t>
            </a:r>
            <a:endParaRPr lang="en-US" sz="1400" dirty="0"/>
          </a:p>
          <a:p>
            <a:pPr algn="l" marL="213360" indent="-175768">
              <a:lnSpc>
                <a:spcPts val="2100"/>
              </a:lnSpc>
              <a:buSzPct val="100000"/>
              <a:buChar char="•"/>
            </a:pPr>
            <a:r>
              <a:rPr lang="en-US" sz="1400" dirty="0">
                <a:solidFill>
                  <a:srgbClr val="46505C"/>
                </a:solidFill>
                <a:latin typeface="IBM Plex Sans" pitchFamily="34" charset="0"/>
                <a:ea typeface="IBM Plex Sans" pitchFamily="34" charset="-122"/>
                <a:cs typeface="IBM Plex Sans" pitchFamily="34" charset="-120"/>
              </a:rPr>
              <a:t>Fair to slow controllers such as LLMs.</a:t>
            </a:r>
            <a:endParaRPr lang="en-US" sz="1400" dirty="0"/>
          </a:p>
        </p:txBody>
      </p:sp>
      <p:sp>
        <p:nvSpPr>
          <p:cNvPr id="9" name="Shape 7"/>
          <p:cNvSpPr/>
          <p:nvPr/>
        </p:nvSpPr>
        <p:spPr>
          <a:xfrm>
            <a:off x="6211292" y="1953648"/>
            <a:ext cx="5164766" cy="2081709"/>
          </a:xfrm>
          <a:prstGeom prst="roundRect">
            <a:avLst>
              <a:gd name="adj" fmla="val 4728"/>
            </a:avLst>
          </a:prstGeom>
          <a:solidFill>
            <a:srgbClr val="FCFBF8"/>
          </a:solidFill>
          <a:ln w="6350">
            <a:solidFill>
              <a:srgbClr val="DCD8CC"/>
            </a:solidFill>
            <a:prstDash val="solid"/>
          </a:ln>
        </p:spPr>
      </p:sp>
      <p:sp>
        <p:nvSpPr>
          <p:cNvPr id="10" name="Text 8"/>
          <p:cNvSpPr/>
          <p:nvPr/>
        </p:nvSpPr>
        <p:spPr>
          <a:xfrm>
            <a:off x="6518176" y="2260532"/>
            <a:ext cx="4687529"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11A24"/>
                </a:solidFill>
                <a:latin typeface="IBM Plex Sans" pitchFamily="34" charset="0"/>
                <a:ea typeface="IBM Plex Sans" pitchFamily="34" charset="-122"/>
                <a:cs typeface="IBM Plex Sans" pitchFamily="34" charset="-120"/>
              </a:rPr>
              <a:t>Real-time</a:t>
            </a:r>
            <a:endParaRPr lang="en-US" sz="1800" dirty="0"/>
          </a:p>
        </p:txBody>
      </p:sp>
      <p:sp>
        <p:nvSpPr>
          <p:cNvPr id="11" name="Text 9"/>
          <p:cNvSpPr/>
          <p:nvPr/>
        </p:nvSpPr>
        <p:spPr>
          <a:xfrm>
            <a:off x="6518176" y="2661872"/>
            <a:ext cx="4687529" cy="1092002"/>
          </a:xfrm>
          <a:prstGeom prst="rect">
            <a:avLst/>
          </a:prstGeom>
          <a:noFill/>
          <a:ln/>
        </p:spPr>
        <p:txBody>
          <a:bodyPr wrap="square" lIns="0" tIns="0" rIns="0" bIns="0" rtlCol="0" anchor="t">
            <a:normAutofit/>
          </a:bodyPr>
          <a:lstStyle/>
          <a:p>
            <a:pPr algn="l" marL="213360" indent="-175768">
              <a:lnSpc>
                <a:spcPts val="2100"/>
              </a:lnSpc>
              <a:buSzPct val="100000"/>
              <a:buChar char="•"/>
            </a:pPr>
            <a:r>
              <a:rPr lang="en-US" sz="1400" dirty="0">
                <a:solidFill>
                  <a:srgbClr val="46505C"/>
                </a:solidFill>
                <a:latin typeface="IBM Plex Sans" pitchFamily="34" charset="0"/>
                <a:ea typeface="IBM Plex Sans" pitchFamily="34" charset="-122"/>
                <a:cs typeface="IBM Plex Sans" pitchFamily="34" charset="-120"/>
              </a:rPr>
              <a:t>The simulation keeps running and the last command is held.</a:t>
            </a:r>
            <a:endParaRPr lang="en-US" sz="1400" dirty="0"/>
          </a:p>
          <a:p>
            <a:pPr algn="l" marL="213360" indent="-175768">
              <a:lnSpc>
                <a:spcPts val="2100"/>
              </a:lnSpc>
              <a:buSzPct val="100000"/>
              <a:buChar char="•"/>
            </a:pPr>
            <a:r>
              <a:rPr lang="en-US" sz="1400" dirty="0">
                <a:solidFill>
                  <a:srgbClr val="46505C"/>
                </a:solidFill>
                <a:latin typeface="IBM Plex Sans" pitchFamily="34" charset="0"/>
                <a:ea typeface="IBM Plex Sans" pitchFamily="34" charset="-122"/>
                <a:cs typeface="IBM Plex Sans" pitchFamily="34" charset="-120"/>
              </a:rPr>
              <a:t>Each reply applies whenever it arrives.</a:t>
            </a:r>
            <a:endParaRPr lang="en-US" sz="1400" dirty="0"/>
          </a:p>
          <a:p>
            <a:pPr algn="l" marL="213360" indent="-175768">
              <a:lnSpc>
                <a:spcPts val="2100"/>
              </a:lnSpc>
              <a:buSzPct val="100000"/>
              <a:buChar char="•"/>
            </a:pPr>
            <a:r>
              <a:rPr lang="en-US" sz="1400" dirty="0">
                <a:solidFill>
                  <a:srgbClr val="46505C"/>
                </a:solidFill>
                <a:latin typeface="IBM Plex Sans" pitchFamily="34" charset="0"/>
                <a:ea typeface="IBM Plex Sans" pitchFamily="34" charset="-122"/>
                <a:cs typeface="IBM Plex Sans" pitchFamily="34" charset="-120"/>
              </a:rPr>
              <a:t>Shows how a controller would cope on real hardware.</a:t>
            </a:r>
            <a:endParaRPr lang="en-US" sz="1400" dirty="0"/>
          </a:p>
        </p:txBody>
      </p:sp>
      <p:sp>
        <p:nvSpPr>
          <p:cNvPr id="12" name="Text 10"/>
          <p:cNvSpPr/>
          <p:nvPr/>
        </p:nvSpPr>
        <p:spPr>
          <a:xfrm>
            <a:off x="812767" y="4394064"/>
            <a:ext cx="10883460" cy="283121"/>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46505C"/>
                </a:solidFill>
                <a:latin typeface="IBM Plex Sans" pitchFamily="34" charset="0"/>
                <a:ea typeface="IBM Plex Sans" pitchFamily="34" charset="-122"/>
                <a:cs typeface="IBM Plex Sans" pitchFamily="34" charset="-120"/>
              </a:rPr>
              <a:t>In both modes</a:t>
            </a:r>
            <a:r>
              <a:rPr lang="en-US" sz="1400" dirty="0">
                <a:solidFill>
                  <a:srgbClr val="46505C"/>
                </a:solidFill>
                <a:latin typeface="IBM Plex Sans" pitchFamily="34" charset="0"/>
                <a:ea typeface="IBM Plex Sans" pitchFamily="34" charset="-122"/>
                <a:cs typeface="IBM Plex Sans" pitchFamily="34" charset="-120"/>
              </a:rPr>
              <a:t> a step timeout turns a hung controller into a logged failure.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20C"/>
                </a:solidFill>
                <a:latin typeface="IBM Plex Sans" pitchFamily="34" charset="0"/>
                <a:ea typeface="IBM Plex Sans" pitchFamily="34" charset="-122"/>
                <a:cs typeface="IBM Plex Sans" pitchFamily="34" charset="-120"/>
              </a:rPr>
              <a:t>COMMAND SAFETY</a:t>
            </a:r>
            <a:endParaRPr lang="en-US" sz="1200" dirty="0"/>
          </a:p>
        </p:txBody>
      </p:sp>
      <p:sp>
        <p:nvSpPr>
          <p:cNvPr id="3" name="Text 1"/>
          <p:cNvSpPr/>
          <p:nvPr/>
        </p:nvSpPr>
        <p:spPr>
          <a:xfrm>
            <a:off x="812767" y="1127621"/>
            <a:ext cx="10883460"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11A24"/>
                </a:solidFill>
                <a:latin typeface="IBM Plex Sans" pitchFamily="34" charset="0"/>
                <a:ea typeface="IBM Plex Sans" pitchFamily="34" charset="-122"/>
                <a:cs typeface="IBM Plex Sans" pitchFamily="34" charset="-120"/>
              </a:rPr>
              <a:t>Bad commands are measured, not hidden</a:t>
            </a:r>
            <a:endParaRPr lang="en-US" sz="3200" dirty="0"/>
          </a:p>
        </p:txBody>
      </p:sp>
      <p:sp>
        <p:nvSpPr>
          <p:cNvPr id="4" name="Text 2"/>
          <p:cNvSpPr/>
          <p:nvPr/>
        </p:nvSpPr>
        <p:spPr>
          <a:xfrm>
            <a:off x="812767" y="1899704"/>
            <a:ext cx="5284775"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11A24"/>
                </a:solidFill>
                <a:latin typeface="IBM Plex Sans" pitchFamily="34" charset="0"/>
                <a:ea typeface="IBM Plex Sans" pitchFamily="34" charset="-122"/>
                <a:cs typeface="IBM Plex Sans" pitchFamily="34" charset="-120"/>
              </a:rPr>
              <a:t>Out of limits</a:t>
            </a:r>
            <a:endParaRPr lang="en-US" sz="1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3350" y="2311627"/>
          <a:ext cx="5120266" cy="1535245"/>
        </p:xfrm>
        <a:graphic>
          <a:graphicData uri="http://schemas.openxmlformats.org/drawingml/2006/table">
            <a:tbl>
              <a:tblPr/>
              <a:tblGrid>
                <a:gridCol w="1843296"/>
                <a:gridCol w="3276970"/>
              </a:tblGrid>
              <a:tr h="383811">
                <a:tc>
                  <a:txBody>
                    <a:bodyPr/>
                    <a:lstStyle/>
                    <a:p>
                      <a:pPr indent="0" marL="0">
                        <a:lnSpc>
                          <a:spcPts val="1960"/>
                        </a:lnSpc>
                        <a:buNone/>
                      </a:pPr>
                      <a:r>
                        <a:rPr lang="en-US" sz="1400" b="1" dirty="0">
                          <a:solidFill>
                            <a:srgbClr val="1B2430"/>
                          </a:solidFill>
                          <a:latin typeface="IBM Plex Sans" pitchFamily="34" charset="0"/>
                          <a:ea typeface="IBM Plex Sans" pitchFamily="34" charset="-122"/>
                          <a:cs typeface="IBM Plex Sans" pitchFamily="34" charset="-120"/>
                        </a:rPr>
                        <a:t>Mode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BBB8A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BB8AF"/>
                      </a:solidFill>
                      <a:prstDash val="solid"/>
                      <a:round/>
                      <a:headEnd type="none" w="med" len="med"/>
                      <a:tailEnd type="none" w="med" len="med"/>
                    </a:lnB>
                    <a:solidFill>
                      <a:srgbClr val="EAE6DB"/>
                    </a:solidFill>
                  </a:tcPr>
                </a:tc>
                <a:tc>
                  <a:txBody>
                    <a:bodyPr/>
                    <a:lstStyle/>
                    <a:p>
                      <a:pPr indent="0" marL="0">
                        <a:lnSpc>
                          <a:spcPts val="1960"/>
                        </a:lnSpc>
                        <a:buNone/>
                      </a:pPr>
                      <a:r>
                        <a:rPr lang="en-US" sz="1400" b="1" dirty="0">
                          <a:solidFill>
                            <a:srgbClr val="1B2430"/>
                          </a:solidFill>
                          <a:latin typeface="IBM Plex Sans" pitchFamily="34" charset="0"/>
                          <a:ea typeface="IBM Plex Sans" pitchFamily="34" charset="-122"/>
                          <a:cs typeface="IBM Plex Sans" pitchFamily="34" charset="-120"/>
                        </a:rPr>
                        <a:t>What happens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BB8AF"/>
                      </a:solidFill>
                      <a:prstDash val="solid"/>
                      <a:round/>
                      <a:headEnd type="none" w="med" len="med"/>
                      <a:tailEnd type="none" w="med" len="med"/>
                    </a:lnL>
                    <a:lnR w="12700" cap="flat" cmpd="sng" algn="ctr">
                      <a:solidFill>
                        <a:srgbClr val="BBB8A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BB8AF"/>
                      </a:solidFill>
                      <a:prstDash val="solid"/>
                      <a:round/>
                      <a:headEnd type="none" w="med" len="med"/>
                      <a:tailEnd type="none" w="med" len="med"/>
                    </a:lnB>
                    <a:solidFill>
                      <a:srgbClr val="EAE6DB"/>
                    </a:solidFill>
                  </a:tcPr>
                </a:tc>
              </a:tr>
              <a:tr h="383811">
                <a:tc>
                  <a:txBody>
                    <a:bodyPr/>
                    <a:lstStyle/>
                    <a:p>
                      <a:pPr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off</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BB8A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Passes through, still counted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BB8A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83811">
                <a:tc>
                  <a:txBody>
                    <a:bodyPr/>
                    <a:lstStyle/>
                    <a:p>
                      <a:pPr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monitor (default)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C3BF"/>
                      </a:solidFill>
                      <a:prstDash val="solid"/>
                      <a:round/>
                      <a:headEnd type="none" w="med" len="med"/>
                      <a:tailEnd type="none" w="med" len="med"/>
                    </a:lnB>
                    <a:solidFill>
                      <a:srgbClr val="F5F4EF"/>
                    </a:solidFill>
                  </a:tcPr>
                </a:tc>
                <a:tc>
                  <a:txBody>
                    <a:bodyPr/>
                    <a:lstStyle/>
                    <a:p>
                      <a:pPr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Passes through, logged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C3BF"/>
                      </a:solidFill>
                      <a:prstDash val="solid"/>
                      <a:round/>
                      <a:headEnd type="none" w="med" len="med"/>
                      <a:tailEnd type="none" w="med" len="med"/>
                    </a:lnB>
                    <a:solidFill>
                      <a:srgbClr val="F5F4EF"/>
                    </a:solidFill>
                  </a:tcPr>
                </a:tc>
              </a:tr>
              <a:tr h="383811">
                <a:tc>
                  <a:txBody>
                    <a:bodyPr/>
                    <a:lstStyle/>
                    <a:p>
                      <a:pPr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correct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Clipped to the limit, logged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bl>
          </a:graphicData>
        </a:graphic>
      </p:graphicFrame>
      <p:sp>
        <p:nvSpPr>
          <p:cNvPr id="6" name="Text 3"/>
          <p:cNvSpPr/>
          <p:nvPr/>
        </p:nvSpPr>
        <p:spPr>
          <a:xfrm>
            <a:off x="6248383" y="1899704"/>
            <a:ext cx="5284775"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11A24"/>
                </a:solidFill>
                <a:latin typeface="IBM Plex Sans" pitchFamily="34" charset="0"/>
                <a:ea typeface="IBM Plex Sans" pitchFamily="34" charset="-122"/>
                <a:cs typeface="IBM Plex Sans" pitchFamily="34" charset="-120"/>
              </a:rPr>
              <a:t>Can't be simulated</a:t>
            </a:r>
            <a:endParaRPr lang="en-US" sz="18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6258967" y="2311627"/>
          <a:ext cx="5120266" cy="1151434"/>
        </p:xfrm>
        <a:graphic>
          <a:graphicData uri="http://schemas.openxmlformats.org/drawingml/2006/table">
            <a:tbl>
              <a:tblPr/>
              <a:tblGrid>
                <a:gridCol w="1843296"/>
                <a:gridCol w="3276970"/>
              </a:tblGrid>
              <a:tr h="383811">
                <a:tc>
                  <a:txBody>
                    <a:bodyPr/>
                    <a:lstStyle/>
                    <a:p>
                      <a:pPr indent="0" marL="0">
                        <a:lnSpc>
                          <a:spcPts val="1960"/>
                        </a:lnSpc>
                        <a:buNone/>
                      </a:pPr>
                      <a:r>
                        <a:rPr lang="en-US" sz="1400" b="1" dirty="0">
                          <a:solidFill>
                            <a:srgbClr val="1B2430"/>
                          </a:solidFill>
                          <a:latin typeface="IBM Plex Sans" pitchFamily="34" charset="0"/>
                          <a:ea typeface="IBM Plex Sans" pitchFamily="34" charset="-122"/>
                          <a:cs typeface="IBM Plex Sans" pitchFamily="34" charset="-120"/>
                        </a:rPr>
                        <a:t>Mode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BBB8A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BB8AF"/>
                      </a:solidFill>
                      <a:prstDash val="solid"/>
                      <a:round/>
                      <a:headEnd type="none" w="med" len="med"/>
                      <a:tailEnd type="none" w="med" len="med"/>
                    </a:lnB>
                    <a:solidFill>
                      <a:srgbClr val="EAE6DB"/>
                    </a:solidFill>
                  </a:tcPr>
                </a:tc>
                <a:tc>
                  <a:txBody>
                    <a:bodyPr/>
                    <a:lstStyle/>
                    <a:p>
                      <a:pPr indent="0" marL="0">
                        <a:lnSpc>
                          <a:spcPts val="1960"/>
                        </a:lnSpc>
                        <a:buNone/>
                      </a:pPr>
                      <a:r>
                        <a:rPr lang="en-US" sz="1400" b="1" dirty="0">
                          <a:solidFill>
                            <a:srgbClr val="1B2430"/>
                          </a:solidFill>
                          <a:latin typeface="IBM Plex Sans" pitchFamily="34" charset="0"/>
                          <a:ea typeface="IBM Plex Sans" pitchFamily="34" charset="-122"/>
                          <a:cs typeface="IBM Plex Sans" pitchFamily="34" charset="-120"/>
                        </a:rPr>
                        <a:t>What happens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BB8AF"/>
                      </a:solidFill>
                      <a:prstDash val="solid"/>
                      <a:round/>
                      <a:headEnd type="none" w="med" len="med"/>
                      <a:tailEnd type="none" w="med" len="med"/>
                    </a:lnL>
                    <a:lnR w="12700" cap="flat" cmpd="sng" algn="ctr">
                      <a:solidFill>
                        <a:srgbClr val="BBB8A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BB8AF"/>
                      </a:solidFill>
                      <a:prstDash val="solid"/>
                      <a:round/>
                      <a:headEnd type="none" w="med" len="med"/>
                      <a:tailEnd type="none" w="med" len="med"/>
                    </a:lnB>
                    <a:solidFill>
                      <a:srgbClr val="EAE6DB"/>
                    </a:solidFill>
                  </a:tcPr>
                </a:tc>
              </a:tr>
              <a:tr h="383811">
                <a:tc>
                  <a:txBody>
                    <a:bodyPr/>
                    <a:lstStyle/>
                    <a:p>
                      <a:pPr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fail (default)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BB8A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Episode ends as a failure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BB8A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83811">
                <a:tc>
                  <a:txBody>
                    <a:bodyPr/>
                    <a:lstStyle/>
                    <a:p>
                      <a:pPr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hold_last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C3BF"/>
                      </a:solidFill>
                      <a:prstDash val="solid"/>
                      <a:round/>
                      <a:headEnd type="none" w="med" len="med"/>
                      <a:tailEnd type="none" w="med" len="med"/>
                    </a:lnB>
                    <a:solidFill>
                      <a:srgbClr val="F5F4EF"/>
                    </a:solidFill>
                  </a:tcPr>
                </a:tc>
                <a:tc>
                  <a:txBody>
                    <a:bodyPr/>
                    <a:lstStyle/>
                    <a:p>
                      <a:pPr indent="0" marL="0">
                        <a:lnSpc>
                          <a:spcPts val="1960"/>
                        </a:lnSpc>
                        <a:buNone/>
                      </a:pPr>
                      <a:r>
                        <a:rPr lang="en-US" sz="1400" dirty="0">
                          <a:solidFill>
                            <a:srgbClr val="1B2430"/>
                          </a:solidFill>
                          <a:latin typeface="IBM Plex Sans" pitchFamily="34" charset="0"/>
                          <a:ea typeface="IBM Plex Sans" pitchFamily="34" charset="-122"/>
                          <a:cs typeface="IBM Plex Sans" pitchFamily="34" charset="-120"/>
                        </a:rPr>
                        <a:t>Last valid command reused, logged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C3BF"/>
                      </a:solidFill>
                      <a:prstDash val="solid"/>
                      <a:round/>
                      <a:headEnd type="none" w="med" len="med"/>
                      <a:tailEnd type="none" w="med" len="med"/>
                    </a:lnB>
                    <a:solidFill>
                      <a:srgbClr val="F5F4EF"/>
                    </a:solidFill>
                  </a:tcPr>
                </a:tc>
              </a:tr>
            </a:tbl>
          </a:graphicData>
        </a:graphic>
      </p:graphicFrame>
      <p:sp>
        <p:nvSpPr>
          <p:cNvPr id="8" name="Text 4"/>
          <p:cNvSpPr/>
          <p:nvPr/>
        </p:nvSpPr>
        <p:spPr>
          <a:xfrm>
            <a:off x="6248383" y="3590063"/>
            <a:ext cx="5284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05C"/>
                </a:solidFill>
                <a:latin typeface="IBM Plex Sans" pitchFamily="34" charset="0"/>
                <a:ea typeface="IBM Plex Sans" pitchFamily="34" charset="-122"/>
                <a:cs typeface="IBM Plex Sans" pitchFamily="34" charset="-120"/>
              </a:rPr>
              <a:t>Covers NaN, inf, wrong shapes and missing fields.</a:t>
            </a:r>
            <a:endParaRPr lang="en-US" sz="1200" dirty="0"/>
          </a:p>
        </p:txBody>
      </p:sp>
      <p:sp>
        <p:nvSpPr>
          <p:cNvPr id="9" name="Text 5"/>
          <p:cNvSpPr/>
          <p:nvPr/>
        </p:nvSpPr>
        <p:spPr>
          <a:xfrm>
            <a:off x="812767" y="4151641"/>
            <a:ext cx="10883460" cy="540841"/>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46505C"/>
                </a:solidFill>
                <a:latin typeface="IBM Plex Sans" pitchFamily="34" charset="0"/>
                <a:ea typeface="IBM Plex Sans" pitchFamily="34" charset="-122"/>
                <a:cs typeface="IBM Plex Sans" pitchFamily="34" charset="-120"/>
              </a:rPr>
              <a:t>Violation rates are standard metrics</a:t>
            </a:r>
            <a:r>
              <a:rPr lang="en-US" sz="1400" dirty="0">
                <a:solidFill>
                  <a:srgbClr val="46505C"/>
                </a:solidFill>
                <a:latin typeface="IBM Plex Sans" pitchFamily="34" charset="0"/>
                <a:ea typeface="IBM Plex Sans" pitchFamily="34" charset="-122"/>
                <a:cs typeface="IBM Plex Sans" pitchFamily="34" charset="-120"/>
              </a:rPr>
              <a:t>, and every result records its modes, so a corrected run is never compared with a monitored one by mistake.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20C"/>
                </a:solidFill>
                <a:latin typeface="IBM Plex Sans" pitchFamily="34" charset="0"/>
                <a:ea typeface="IBM Plex Sans" pitchFamily="34" charset="-122"/>
                <a:cs typeface="IBM Plex Sans" pitchFamily="34" charset="-120"/>
              </a:rPr>
              <a:t>DEFINING TESTS</a:t>
            </a:r>
            <a:endParaRPr lang="en-US" sz="1200" dirty="0"/>
          </a:p>
        </p:txBody>
      </p:sp>
      <p:sp>
        <p:nvSpPr>
          <p:cNvPr id="3" name="Text 1"/>
          <p:cNvSpPr/>
          <p:nvPr/>
        </p:nvSpPr>
        <p:spPr>
          <a:xfrm>
            <a:off x="812767" y="1127621"/>
            <a:ext cx="10883460"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11A24"/>
                </a:solidFill>
                <a:latin typeface="IBM Plex Sans" pitchFamily="34" charset="0"/>
                <a:ea typeface="IBM Plex Sans" pitchFamily="34" charset="-122"/>
                <a:cs typeface="IBM Plex Sans" pitchFamily="34" charset="-120"/>
              </a:rPr>
              <a:t>A test is assembled from building blocks</a:t>
            </a:r>
            <a:endParaRPr lang="en-US" sz="3200" dirty="0"/>
          </a:p>
        </p:txBody>
      </p:sp>
      <p:sp>
        <p:nvSpPr>
          <p:cNvPr id="4" name="Shape 2"/>
          <p:cNvSpPr/>
          <p:nvPr/>
        </p:nvSpPr>
        <p:spPr>
          <a:xfrm>
            <a:off x="815942" y="1902879"/>
            <a:ext cx="2520917" cy="1101262"/>
          </a:xfrm>
          <a:prstGeom prst="roundRect">
            <a:avLst>
              <a:gd name="adj" fmla="val 8937"/>
            </a:avLst>
          </a:prstGeom>
          <a:solidFill>
            <a:srgbClr val="FCFBF8"/>
          </a:solidFill>
          <a:ln w="6350">
            <a:solidFill>
              <a:srgbClr val="DCD8CC"/>
            </a:solidFill>
            <a:prstDash val="solid"/>
          </a:ln>
        </p:spPr>
      </p:sp>
      <p:sp>
        <p:nvSpPr>
          <p:cNvPr id="5" name="Text 3"/>
          <p:cNvSpPr/>
          <p:nvPr/>
        </p:nvSpPr>
        <p:spPr>
          <a:xfrm>
            <a:off x="1021209" y="2108150"/>
            <a:ext cx="217369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11A24"/>
                </a:solidFill>
                <a:latin typeface="IBM Plex Sans" pitchFamily="34" charset="0"/>
                <a:ea typeface="IBM Plex Sans" pitchFamily="34" charset="-122"/>
                <a:cs typeface="IBM Plex Sans" pitchFamily="34" charset="-120"/>
              </a:rPr>
              <a:t>Robot</a:t>
            </a:r>
            <a:endParaRPr lang="en-US" sz="1400" dirty="0"/>
          </a:p>
        </p:txBody>
      </p:sp>
      <p:sp>
        <p:nvSpPr>
          <p:cNvPr id="6" name="Text 4"/>
          <p:cNvSpPr/>
          <p:nvPr/>
        </p:nvSpPr>
        <p:spPr>
          <a:xfrm>
            <a:off x="1021209" y="2372233"/>
            <a:ext cx="217369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05C"/>
                </a:solidFill>
                <a:latin typeface="IBM Plex Sans" pitchFamily="34" charset="0"/>
                <a:ea typeface="IBM Plex Sans" pitchFamily="34" charset="-122"/>
                <a:cs typeface="IBM Plex Sans" pitchFamily="34" charset="-120"/>
              </a:rPr>
              <a:t>G1, LEAP hand, Trossen, or your own</a:t>
            </a:r>
            <a:endParaRPr lang="en-US" sz="1200" dirty="0"/>
          </a:p>
        </p:txBody>
      </p:sp>
      <p:sp>
        <p:nvSpPr>
          <p:cNvPr id="7" name="Shape 5"/>
          <p:cNvSpPr/>
          <p:nvPr/>
        </p:nvSpPr>
        <p:spPr>
          <a:xfrm>
            <a:off x="3495592" y="1902879"/>
            <a:ext cx="2521000" cy="1101262"/>
          </a:xfrm>
          <a:prstGeom prst="roundRect">
            <a:avLst>
              <a:gd name="adj" fmla="val 8937"/>
            </a:avLst>
          </a:prstGeom>
          <a:solidFill>
            <a:srgbClr val="FCFBF8"/>
          </a:solidFill>
          <a:ln w="6350">
            <a:solidFill>
              <a:srgbClr val="DCD8CC"/>
            </a:solidFill>
            <a:prstDash val="solid"/>
          </a:ln>
        </p:spPr>
      </p:sp>
      <p:sp>
        <p:nvSpPr>
          <p:cNvPr id="8" name="Text 6"/>
          <p:cNvSpPr/>
          <p:nvPr/>
        </p:nvSpPr>
        <p:spPr>
          <a:xfrm>
            <a:off x="3700859" y="2108150"/>
            <a:ext cx="217377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11A24"/>
                </a:solidFill>
                <a:latin typeface="IBM Plex Sans" pitchFamily="34" charset="0"/>
                <a:ea typeface="IBM Plex Sans" pitchFamily="34" charset="-122"/>
                <a:cs typeface="IBM Plex Sans" pitchFamily="34" charset="-120"/>
              </a:rPr>
              <a:t>Scene</a:t>
            </a:r>
            <a:endParaRPr lang="en-US" sz="1400" dirty="0"/>
          </a:p>
        </p:txBody>
      </p:sp>
      <p:sp>
        <p:nvSpPr>
          <p:cNvPr id="9" name="Text 7"/>
          <p:cNvSpPr/>
          <p:nvPr/>
        </p:nvSpPr>
        <p:spPr>
          <a:xfrm>
            <a:off x="3700859" y="2372233"/>
            <a:ext cx="217377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05C"/>
                </a:solidFill>
                <a:latin typeface="IBM Plex Sans" pitchFamily="34" charset="0"/>
                <a:ea typeface="IBM Plex Sans" pitchFamily="34" charset="-122"/>
                <a:cs typeface="IBM Plex Sans" pitchFamily="34" charset="-120"/>
              </a:rPr>
              <a:t>Pre-generated terrain, buildings, tabletops</a:t>
            </a:r>
            <a:endParaRPr lang="en-US" sz="1200" dirty="0"/>
          </a:p>
        </p:txBody>
      </p:sp>
      <p:sp>
        <p:nvSpPr>
          <p:cNvPr id="10" name="Shape 8"/>
          <p:cNvSpPr/>
          <p:nvPr/>
        </p:nvSpPr>
        <p:spPr>
          <a:xfrm>
            <a:off x="6175325" y="1902879"/>
            <a:ext cx="2521000" cy="1101262"/>
          </a:xfrm>
          <a:prstGeom prst="roundRect">
            <a:avLst>
              <a:gd name="adj" fmla="val 8937"/>
            </a:avLst>
          </a:prstGeom>
          <a:solidFill>
            <a:srgbClr val="FCFBF8"/>
          </a:solidFill>
          <a:ln w="6350">
            <a:solidFill>
              <a:srgbClr val="DCD8CC"/>
            </a:solidFill>
            <a:prstDash val="solid"/>
          </a:ln>
        </p:spPr>
      </p:sp>
      <p:sp>
        <p:nvSpPr>
          <p:cNvPr id="11" name="Text 9"/>
          <p:cNvSpPr/>
          <p:nvPr/>
        </p:nvSpPr>
        <p:spPr>
          <a:xfrm>
            <a:off x="6380592" y="2108150"/>
            <a:ext cx="217377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11A24"/>
                </a:solidFill>
                <a:latin typeface="IBM Plex Sans" pitchFamily="34" charset="0"/>
                <a:ea typeface="IBM Plex Sans" pitchFamily="34" charset="-122"/>
                <a:cs typeface="IBM Plex Sans" pitchFamily="34" charset="-120"/>
              </a:rPr>
              <a:t>Goal</a:t>
            </a:r>
            <a:endParaRPr lang="en-US" sz="1400" dirty="0"/>
          </a:p>
        </p:txBody>
      </p:sp>
      <p:sp>
        <p:nvSpPr>
          <p:cNvPr id="12" name="Text 10"/>
          <p:cNvSpPr/>
          <p:nvPr/>
        </p:nvSpPr>
        <p:spPr>
          <a:xfrm>
            <a:off x="6380592" y="2372233"/>
            <a:ext cx="217377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05C"/>
                </a:solidFill>
                <a:latin typeface="IBM Plex Sans" pitchFamily="34" charset="0"/>
                <a:ea typeface="IBM Plex Sans" pitchFamily="34" charset="-122"/>
                <a:cs typeface="IBM Plex Sans" pitchFamily="34" charset="-120"/>
              </a:rPr>
              <a:t>What to achieve, and how far off you are</a:t>
            </a:r>
            <a:endParaRPr lang="en-US" sz="1200" dirty="0"/>
          </a:p>
        </p:txBody>
      </p:sp>
      <p:sp>
        <p:nvSpPr>
          <p:cNvPr id="13" name="Shape 11"/>
          <p:cNvSpPr/>
          <p:nvPr/>
        </p:nvSpPr>
        <p:spPr>
          <a:xfrm>
            <a:off x="8855058" y="1902879"/>
            <a:ext cx="2521000" cy="1101262"/>
          </a:xfrm>
          <a:prstGeom prst="roundRect">
            <a:avLst>
              <a:gd name="adj" fmla="val 8937"/>
            </a:avLst>
          </a:prstGeom>
          <a:solidFill>
            <a:srgbClr val="FCFBF8"/>
          </a:solidFill>
          <a:ln w="6350">
            <a:solidFill>
              <a:srgbClr val="DCD8CC"/>
            </a:solidFill>
            <a:prstDash val="solid"/>
          </a:ln>
        </p:spPr>
      </p:sp>
      <p:sp>
        <p:nvSpPr>
          <p:cNvPr id="14" name="Text 12"/>
          <p:cNvSpPr/>
          <p:nvPr/>
        </p:nvSpPr>
        <p:spPr>
          <a:xfrm>
            <a:off x="9060325" y="2108150"/>
            <a:ext cx="217377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11A24"/>
                </a:solidFill>
                <a:latin typeface="IBM Plex Sans" pitchFamily="34" charset="0"/>
                <a:ea typeface="IBM Plex Sans" pitchFamily="34" charset="-122"/>
                <a:cs typeface="IBM Plex Sans" pitchFamily="34" charset="-120"/>
              </a:rPr>
              <a:t>Randomizers</a:t>
            </a:r>
            <a:endParaRPr lang="en-US" sz="1400" dirty="0"/>
          </a:p>
        </p:txBody>
      </p:sp>
      <p:sp>
        <p:nvSpPr>
          <p:cNvPr id="15" name="Text 13"/>
          <p:cNvSpPr/>
          <p:nvPr/>
        </p:nvSpPr>
        <p:spPr>
          <a:xfrm>
            <a:off x="9060325" y="2372233"/>
            <a:ext cx="217377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05C"/>
                </a:solidFill>
                <a:latin typeface="IBM Plex Sans" pitchFamily="34" charset="0"/>
                <a:ea typeface="IBM Plex Sans" pitchFamily="34" charset="-122"/>
                <a:cs typeface="IBM Plex Sans" pitchFamily="34" charset="-120"/>
              </a:rPr>
              <a:t>Start poses, goals, friction, mass</a:t>
            </a:r>
            <a:endParaRPr lang="en-US" sz="1200" dirty="0"/>
          </a:p>
        </p:txBody>
      </p:sp>
      <p:sp>
        <p:nvSpPr>
          <p:cNvPr id="16" name="Shape 14"/>
          <p:cNvSpPr/>
          <p:nvPr/>
        </p:nvSpPr>
        <p:spPr>
          <a:xfrm>
            <a:off x="815942" y="3162877"/>
            <a:ext cx="2520917" cy="1101262"/>
          </a:xfrm>
          <a:prstGeom prst="roundRect">
            <a:avLst>
              <a:gd name="adj" fmla="val 8937"/>
            </a:avLst>
          </a:prstGeom>
          <a:solidFill>
            <a:srgbClr val="FCFBF8"/>
          </a:solidFill>
          <a:ln w="6350">
            <a:solidFill>
              <a:srgbClr val="DCD8CC"/>
            </a:solidFill>
            <a:prstDash val="solid"/>
          </a:ln>
        </p:spPr>
      </p:sp>
      <p:sp>
        <p:nvSpPr>
          <p:cNvPr id="17" name="Text 15"/>
          <p:cNvSpPr/>
          <p:nvPr/>
        </p:nvSpPr>
        <p:spPr>
          <a:xfrm>
            <a:off x="1021209" y="3368142"/>
            <a:ext cx="217369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11A24"/>
                </a:solidFill>
                <a:latin typeface="IBM Plex Sans" pitchFamily="34" charset="0"/>
                <a:ea typeface="IBM Plex Sans" pitchFamily="34" charset="-122"/>
                <a:cs typeface="IBM Plex Sans" pitchFamily="34" charset="-120"/>
              </a:rPr>
              <a:t>Terminations</a:t>
            </a:r>
            <a:endParaRPr lang="en-US" sz="1400" dirty="0"/>
          </a:p>
        </p:txBody>
      </p:sp>
      <p:sp>
        <p:nvSpPr>
          <p:cNvPr id="18" name="Text 16"/>
          <p:cNvSpPr/>
          <p:nvPr/>
        </p:nvSpPr>
        <p:spPr>
          <a:xfrm>
            <a:off x="1021209" y="3632231"/>
            <a:ext cx="217369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05C"/>
                </a:solidFill>
                <a:latin typeface="IBM Plex Sans" pitchFamily="34" charset="0"/>
                <a:ea typeface="IBM Plex Sans" pitchFamily="34" charset="-122"/>
                <a:cs typeface="IBM Plex Sans" pitchFamily="34" charset="-120"/>
              </a:rPr>
              <a:t>Success, fell, dropped, timeout</a:t>
            </a:r>
            <a:endParaRPr lang="en-US" sz="1200" dirty="0"/>
          </a:p>
        </p:txBody>
      </p:sp>
      <p:sp>
        <p:nvSpPr>
          <p:cNvPr id="19" name="Shape 17"/>
          <p:cNvSpPr/>
          <p:nvPr/>
        </p:nvSpPr>
        <p:spPr>
          <a:xfrm>
            <a:off x="3495592" y="3162877"/>
            <a:ext cx="2521000" cy="1101262"/>
          </a:xfrm>
          <a:prstGeom prst="roundRect">
            <a:avLst>
              <a:gd name="adj" fmla="val 8937"/>
            </a:avLst>
          </a:prstGeom>
          <a:solidFill>
            <a:srgbClr val="FCFBF8"/>
          </a:solidFill>
          <a:ln w="6350">
            <a:solidFill>
              <a:srgbClr val="DCD8CC"/>
            </a:solidFill>
            <a:prstDash val="solid"/>
          </a:ln>
        </p:spPr>
      </p:sp>
      <p:sp>
        <p:nvSpPr>
          <p:cNvPr id="20" name="Text 18"/>
          <p:cNvSpPr/>
          <p:nvPr/>
        </p:nvSpPr>
        <p:spPr>
          <a:xfrm>
            <a:off x="3700859" y="3368142"/>
            <a:ext cx="217377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11A24"/>
                </a:solidFill>
                <a:latin typeface="IBM Plex Sans" pitchFamily="34" charset="0"/>
                <a:ea typeface="IBM Plex Sans" pitchFamily="34" charset="-122"/>
                <a:cs typeface="IBM Plex Sans" pitchFamily="34" charset="-120"/>
              </a:rPr>
              <a:t>Disturbances</a:t>
            </a:r>
            <a:endParaRPr lang="en-US" sz="1400" dirty="0"/>
          </a:p>
        </p:txBody>
      </p:sp>
      <p:sp>
        <p:nvSpPr>
          <p:cNvPr id="21" name="Text 19"/>
          <p:cNvSpPr/>
          <p:nvPr/>
        </p:nvSpPr>
        <p:spPr>
          <a:xfrm>
            <a:off x="3700859" y="3632231"/>
            <a:ext cx="21737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05C"/>
                </a:solidFill>
                <a:latin typeface="IBM Plex Sans" pitchFamily="34" charset="0"/>
                <a:ea typeface="IBM Plex Sans" pitchFamily="34" charset="-122"/>
                <a:cs typeface="IBM Plex Sans" pitchFamily="34" charset="-120"/>
              </a:rPr>
              <a:t>Pushes and scheduled events</a:t>
            </a:r>
            <a:endParaRPr lang="en-US" sz="1200" dirty="0"/>
          </a:p>
        </p:txBody>
      </p:sp>
      <p:sp>
        <p:nvSpPr>
          <p:cNvPr id="22" name="Shape 20"/>
          <p:cNvSpPr/>
          <p:nvPr/>
        </p:nvSpPr>
        <p:spPr>
          <a:xfrm>
            <a:off x="6175325" y="3162877"/>
            <a:ext cx="2521000" cy="1101262"/>
          </a:xfrm>
          <a:prstGeom prst="roundRect">
            <a:avLst>
              <a:gd name="adj" fmla="val 8937"/>
            </a:avLst>
          </a:prstGeom>
          <a:solidFill>
            <a:srgbClr val="FCFBF8"/>
          </a:solidFill>
          <a:ln w="6350">
            <a:solidFill>
              <a:srgbClr val="DCD8CC"/>
            </a:solidFill>
            <a:prstDash val="solid"/>
          </a:ln>
        </p:spPr>
      </p:sp>
      <p:sp>
        <p:nvSpPr>
          <p:cNvPr id="23" name="Text 21"/>
          <p:cNvSpPr/>
          <p:nvPr/>
        </p:nvSpPr>
        <p:spPr>
          <a:xfrm>
            <a:off x="6380592" y="3368142"/>
            <a:ext cx="217377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11A24"/>
                </a:solidFill>
                <a:latin typeface="IBM Plex Sans" pitchFamily="34" charset="0"/>
                <a:ea typeface="IBM Plex Sans" pitchFamily="34" charset="-122"/>
                <a:cs typeface="IBM Plex Sans" pitchFamily="34" charset="-120"/>
              </a:rPr>
              <a:t>Metrics</a:t>
            </a:r>
            <a:endParaRPr lang="en-US" sz="1400" dirty="0"/>
          </a:p>
        </p:txBody>
      </p:sp>
      <p:sp>
        <p:nvSpPr>
          <p:cNvPr id="24" name="Text 22"/>
          <p:cNvSpPr/>
          <p:nvPr/>
        </p:nvSpPr>
        <p:spPr>
          <a:xfrm>
            <a:off x="6380592" y="3632231"/>
            <a:ext cx="21737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05C"/>
                </a:solidFill>
                <a:latin typeface="IBM Plex Sans" pitchFamily="34" charset="0"/>
                <a:ea typeface="IBM Plex Sans" pitchFamily="34" charset="-122"/>
                <a:cs typeface="IBM Plex Sans" pitchFamily="34" charset="-120"/>
              </a:rPr>
              <a:t>What gets measured each step</a:t>
            </a:r>
            <a:endParaRPr lang="en-US" sz="1200" dirty="0"/>
          </a:p>
        </p:txBody>
      </p:sp>
      <p:sp>
        <p:nvSpPr>
          <p:cNvPr id="25" name="Shape 23"/>
          <p:cNvSpPr/>
          <p:nvPr/>
        </p:nvSpPr>
        <p:spPr>
          <a:xfrm>
            <a:off x="8855058" y="3162877"/>
            <a:ext cx="2521000" cy="1101262"/>
          </a:xfrm>
          <a:prstGeom prst="roundRect">
            <a:avLst>
              <a:gd name="adj" fmla="val 8937"/>
            </a:avLst>
          </a:prstGeom>
          <a:solidFill>
            <a:srgbClr val="FCFBF8"/>
          </a:solidFill>
          <a:ln w="6350">
            <a:solidFill>
              <a:srgbClr val="DCD8CC"/>
            </a:solidFill>
            <a:prstDash val="solid"/>
          </a:ln>
        </p:spPr>
      </p:sp>
      <p:sp>
        <p:nvSpPr>
          <p:cNvPr id="26" name="Text 24"/>
          <p:cNvSpPr/>
          <p:nvPr/>
        </p:nvSpPr>
        <p:spPr>
          <a:xfrm>
            <a:off x="9060325" y="3368142"/>
            <a:ext cx="217377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11A24"/>
                </a:solidFill>
                <a:latin typeface="IBM Plex Sans" pitchFamily="34" charset="0"/>
                <a:ea typeface="IBM Plex Sans" pitchFamily="34" charset="-122"/>
                <a:cs typeface="IBM Plex Sans" pitchFamily="34" charset="-120"/>
              </a:rPr>
              <a:t>Sim settings</a:t>
            </a:r>
            <a:endParaRPr lang="en-US" sz="1400" dirty="0"/>
          </a:p>
        </p:txBody>
      </p:sp>
      <p:sp>
        <p:nvSpPr>
          <p:cNvPr id="27" name="Text 25"/>
          <p:cNvSpPr/>
          <p:nvPr/>
        </p:nvSpPr>
        <p:spPr>
          <a:xfrm>
            <a:off x="9060325" y="3632231"/>
            <a:ext cx="217377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05C"/>
                </a:solidFill>
                <a:latin typeface="IBM Plex Sans" pitchFamily="34" charset="0"/>
                <a:ea typeface="IBM Plex Sans" pitchFamily="34" charset="-122"/>
                <a:cs typeface="IBM Plex Sans" pitchFamily="34" charset="-120"/>
              </a:rPr>
              <a:t>Time step and contact model per test</a:t>
            </a:r>
            <a:endParaRPr lang="en-US" sz="1200" dirty="0"/>
          </a:p>
        </p:txBody>
      </p:sp>
      <p:sp>
        <p:nvSpPr>
          <p:cNvPr id="28" name="Text 26"/>
          <p:cNvSpPr/>
          <p:nvPr/>
        </p:nvSpPr>
        <p:spPr>
          <a:xfrm>
            <a:off x="812767" y="4572081"/>
            <a:ext cx="10883460" cy="27427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4520C"/>
                </a:solidFill>
                <a:latin typeface="JetBrains Mono" pitchFamily="34" charset="0"/>
                <a:ea typeface="JetBrains Mono" pitchFamily="34" charset="-122"/>
                <a:cs typeface="JetBrains Mono" pitchFamily="34" charset="-120"/>
              </a:rPr>
              <a:t>scenario.sample(seed) → one reproducible episode</a:t>
            </a:r>
            <a:endParaRPr lang="en-US" sz="1400" dirty="0"/>
          </a:p>
        </p:txBody>
      </p:sp>
      <p:sp>
        <p:nvSpPr>
          <p:cNvPr id="29" name="Text 27"/>
          <p:cNvSpPr/>
          <p:nvPr/>
        </p:nvSpPr>
        <p:spPr>
          <a:xfrm>
            <a:off x="812767" y="4897103"/>
            <a:ext cx="10883460" cy="28312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6505C"/>
                </a:solidFill>
                <a:latin typeface="IBM Plex Sans" pitchFamily="34" charset="0"/>
                <a:ea typeface="IBM Plex Sans" pitchFamily="34" charset="-122"/>
                <a:cs typeface="IBM Plex Sans" pitchFamily="34" charset="-120"/>
              </a:rPr>
              <a:t>Every randomized value is saved with the result, so any episode can be replayed exactly.</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20C"/>
                </a:solidFill>
                <a:latin typeface="IBM Plex Sans" pitchFamily="34" charset="0"/>
                <a:ea typeface="IBM Plex Sans" pitchFamily="34" charset="-122"/>
                <a:cs typeface="IBM Plex Sans" pitchFamily="34" charset="-120"/>
              </a:rPr>
              <a:t>READY-MADE TESTS</a:t>
            </a:r>
            <a:endParaRPr lang="en-US" sz="1200" dirty="0"/>
          </a:p>
        </p:txBody>
      </p:sp>
      <p:sp>
        <p:nvSpPr>
          <p:cNvPr id="3" name="Text 1"/>
          <p:cNvSpPr/>
          <p:nvPr/>
        </p:nvSpPr>
        <p:spPr>
          <a:xfrm>
            <a:off x="812767" y="1127621"/>
            <a:ext cx="10883460"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11A24"/>
                </a:solidFill>
                <a:latin typeface="IBM Plex Sans" pitchFamily="34" charset="0"/>
                <a:ea typeface="IBM Plex Sans" pitchFamily="34" charset="-122"/>
                <a:cs typeface="IBM Plex Sans" pitchFamily="34" charset="-120"/>
              </a:rPr>
              <a:t>Four tests ship to start with</a:t>
            </a:r>
            <a:endParaRPr lang="en-US" sz="3200" dirty="0"/>
          </a:p>
        </p:txBody>
      </p:sp>
      <p:sp>
        <p:nvSpPr>
          <p:cNvPr id="4" name="Shape 2"/>
          <p:cNvSpPr/>
          <p:nvPr/>
        </p:nvSpPr>
        <p:spPr>
          <a:xfrm>
            <a:off x="815942" y="1902879"/>
            <a:ext cx="5175266" cy="1667636"/>
          </a:xfrm>
          <a:prstGeom prst="roundRect">
            <a:avLst>
              <a:gd name="adj" fmla="val 5902"/>
            </a:avLst>
          </a:prstGeom>
          <a:solidFill>
            <a:srgbClr val="FCFBF8"/>
          </a:solidFill>
          <a:ln w="6350">
            <a:solidFill>
              <a:srgbClr val="DCD8CC"/>
            </a:solidFill>
            <a:prstDash val="solid"/>
          </a:ln>
        </p:spPr>
      </p:sp>
      <p:sp>
        <p:nvSpPr>
          <p:cNvPr id="5" name="Text 3"/>
          <p:cNvSpPr/>
          <p:nvPr/>
        </p:nvSpPr>
        <p:spPr>
          <a:xfrm>
            <a:off x="1072059" y="2159000"/>
            <a:ext cx="48029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4520C"/>
                </a:solidFill>
                <a:latin typeface="JetBrains Mono" pitchFamily="34" charset="0"/>
                <a:ea typeface="JetBrains Mono" pitchFamily="34" charset="-122"/>
                <a:cs typeface="JetBrains Mono" pitchFamily="34" charset="-120"/>
              </a:rPr>
              <a:t>g1/walk_rocky_terrain</a:t>
            </a:r>
            <a:endParaRPr lang="en-US" sz="1200" dirty="0"/>
          </a:p>
        </p:txBody>
      </p:sp>
      <p:sp>
        <p:nvSpPr>
          <p:cNvPr id="6" name="Text 4"/>
          <p:cNvSpPr/>
          <p:nvPr/>
        </p:nvSpPr>
        <p:spPr>
          <a:xfrm>
            <a:off x="1072059" y="2448471"/>
            <a:ext cx="4802924"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11A24"/>
                </a:solidFill>
                <a:latin typeface="IBM Plex Sans" pitchFamily="34" charset="0"/>
                <a:ea typeface="IBM Plex Sans" pitchFamily="34" charset="-122"/>
                <a:cs typeface="IBM Plex Sans" pitchFamily="34" charset="-120"/>
              </a:rPr>
              <a:t>Walk across rocks</a:t>
            </a:r>
            <a:endParaRPr lang="en-US" sz="1800" dirty="0"/>
          </a:p>
        </p:txBody>
      </p:sp>
      <p:sp>
        <p:nvSpPr>
          <p:cNvPr id="7" name="Text 5"/>
          <p:cNvSpPr/>
          <p:nvPr/>
        </p:nvSpPr>
        <p:spPr>
          <a:xfrm>
            <a:off x="1072059" y="2798961"/>
            <a:ext cx="4802924" cy="5408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6505C"/>
                </a:solidFill>
                <a:latin typeface="IBM Plex Sans" pitchFamily="34" charset="0"/>
                <a:ea typeface="IBM Plex Sans" pitchFamily="34" charset="-122"/>
                <a:cs typeface="IBM Plex Sans" pitchFamily="34" charset="-120"/>
              </a:rPr>
              <a:t>Random start and goal at least 5 m apart. Fails if the pelvis drops too low. Optional pushes.</a:t>
            </a:r>
            <a:endParaRPr lang="en-US" sz="1400" dirty="0"/>
          </a:p>
        </p:txBody>
      </p:sp>
      <p:sp>
        <p:nvSpPr>
          <p:cNvPr id="8" name="Shape 6"/>
          <p:cNvSpPr/>
          <p:nvPr/>
        </p:nvSpPr>
        <p:spPr>
          <a:xfrm>
            <a:off x="6200709" y="1902879"/>
            <a:ext cx="5175349" cy="1667636"/>
          </a:xfrm>
          <a:prstGeom prst="roundRect">
            <a:avLst>
              <a:gd name="adj" fmla="val 5902"/>
            </a:avLst>
          </a:prstGeom>
          <a:solidFill>
            <a:srgbClr val="FCFBF8"/>
          </a:solidFill>
          <a:ln w="6350">
            <a:solidFill>
              <a:srgbClr val="DCD8CC"/>
            </a:solidFill>
            <a:prstDash val="solid"/>
          </a:ln>
        </p:spPr>
      </p:sp>
      <p:sp>
        <p:nvSpPr>
          <p:cNvPr id="9" name="Text 7"/>
          <p:cNvSpPr/>
          <p:nvPr/>
        </p:nvSpPr>
        <p:spPr>
          <a:xfrm>
            <a:off x="6456825" y="2159000"/>
            <a:ext cx="48030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4520C"/>
                </a:solidFill>
                <a:latin typeface="JetBrains Mono" pitchFamily="34" charset="0"/>
                <a:ea typeface="JetBrains Mono" pitchFamily="34" charset="-122"/>
                <a:cs typeface="JetBrains Mono" pitchFamily="34" charset="-120"/>
              </a:rPr>
              <a:t>g1/walk_building</a:t>
            </a:r>
            <a:endParaRPr lang="en-US" sz="1200" dirty="0"/>
          </a:p>
        </p:txBody>
      </p:sp>
      <p:sp>
        <p:nvSpPr>
          <p:cNvPr id="10" name="Text 8"/>
          <p:cNvSpPr/>
          <p:nvPr/>
        </p:nvSpPr>
        <p:spPr>
          <a:xfrm>
            <a:off x="6456825" y="2448471"/>
            <a:ext cx="4803009"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11A24"/>
                </a:solidFill>
                <a:latin typeface="IBM Plex Sans" pitchFamily="34" charset="0"/>
                <a:ea typeface="IBM Plex Sans" pitchFamily="34" charset="-122"/>
                <a:cs typeface="IBM Plex Sans" pitchFamily="34" charset="-120"/>
              </a:rPr>
              <a:t>Walk through a building</a:t>
            </a:r>
            <a:endParaRPr lang="en-US" sz="1800" dirty="0"/>
          </a:p>
        </p:txBody>
      </p:sp>
      <p:sp>
        <p:nvSpPr>
          <p:cNvPr id="11" name="Text 9"/>
          <p:cNvSpPr/>
          <p:nvPr/>
        </p:nvSpPr>
        <p:spPr>
          <a:xfrm>
            <a:off x="6456825" y="2798961"/>
            <a:ext cx="4803009" cy="5408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6505C"/>
                </a:solidFill>
                <a:latin typeface="IBM Plex Sans" pitchFamily="34" charset="0"/>
                <a:ea typeface="IBM Plex Sans" pitchFamily="34" charset="-122"/>
                <a:cs typeface="IBM Plex Sans" pitchFamily="34" charset="-120"/>
              </a:rPr>
              <a:t>Start and goal in two different random rooms. The task description names the goal room.</a:t>
            </a:r>
            <a:endParaRPr lang="en-US" sz="1400" dirty="0"/>
          </a:p>
        </p:txBody>
      </p:sp>
      <p:sp>
        <p:nvSpPr>
          <p:cNvPr id="12" name="Shape 10"/>
          <p:cNvSpPr/>
          <p:nvPr/>
        </p:nvSpPr>
        <p:spPr>
          <a:xfrm>
            <a:off x="815942" y="3780017"/>
            <a:ext cx="5175266" cy="1667636"/>
          </a:xfrm>
          <a:prstGeom prst="roundRect">
            <a:avLst>
              <a:gd name="adj" fmla="val 5902"/>
            </a:avLst>
          </a:prstGeom>
          <a:solidFill>
            <a:srgbClr val="FCFBF8"/>
          </a:solidFill>
          <a:ln w="6350">
            <a:solidFill>
              <a:srgbClr val="DCD8CC"/>
            </a:solidFill>
            <a:prstDash val="solid"/>
          </a:ln>
        </p:spPr>
      </p:sp>
      <p:sp>
        <p:nvSpPr>
          <p:cNvPr id="13" name="Text 11"/>
          <p:cNvSpPr/>
          <p:nvPr/>
        </p:nvSpPr>
        <p:spPr>
          <a:xfrm>
            <a:off x="1072059" y="4036132"/>
            <a:ext cx="48029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4520C"/>
                </a:solidFill>
                <a:latin typeface="JetBrains Mono" pitchFamily="34" charset="0"/>
                <a:ea typeface="JetBrains Mono" pitchFamily="34" charset="-122"/>
                <a:cs typeface="JetBrains Mono" pitchFamily="34" charset="-120"/>
              </a:rPr>
              <a:t>leap/cube_reorientation</a:t>
            </a:r>
            <a:endParaRPr lang="en-US" sz="1200" dirty="0"/>
          </a:p>
        </p:txBody>
      </p:sp>
      <p:sp>
        <p:nvSpPr>
          <p:cNvPr id="14" name="Text 12"/>
          <p:cNvSpPr/>
          <p:nvPr/>
        </p:nvSpPr>
        <p:spPr>
          <a:xfrm>
            <a:off x="1072059" y="4325603"/>
            <a:ext cx="4802924"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11A24"/>
                </a:solidFill>
                <a:latin typeface="IBM Plex Sans" pitchFamily="34" charset="0"/>
                <a:ea typeface="IBM Plex Sans" pitchFamily="34" charset="-122"/>
                <a:cs typeface="IBM Plex Sans" pitchFamily="34" charset="-120"/>
              </a:rPr>
              <a:t>Rotate a cube in-hand</a:t>
            </a:r>
            <a:endParaRPr lang="en-US" sz="1800" dirty="0"/>
          </a:p>
        </p:txBody>
      </p:sp>
      <p:sp>
        <p:nvSpPr>
          <p:cNvPr id="15" name="Text 13"/>
          <p:cNvSpPr/>
          <p:nvPr/>
        </p:nvSpPr>
        <p:spPr>
          <a:xfrm>
            <a:off x="1072059" y="4676093"/>
            <a:ext cx="4802924" cy="5408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6505C"/>
                </a:solidFill>
                <a:latin typeface="IBM Plex Sans" pitchFamily="34" charset="0"/>
                <a:ea typeface="IBM Plex Sans" pitchFamily="34" charset="-122"/>
                <a:cs typeface="IBM Plex Sans" pitchFamily="34" charset="-120"/>
              </a:rPr>
              <a:t>Bring a random target face to the top and hold it there. Fails if the cube is dropped.</a:t>
            </a:r>
            <a:endParaRPr lang="en-US" sz="1400" dirty="0"/>
          </a:p>
        </p:txBody>
      </p:sp>
      <p:sp>
        <p:nvSpPr>
          <p:cNvPr id="16" name="Shape 14"/>
          <p:cNvSpPr/>
          <p:nvPr/>
        </p:nvSpPr>
        <p:spPr>
          <a:xfrm>
            <a:off x="6200709" y="3780017"/>
            <a:ext cx="5175349" cy="1667636"/>
          </a:xfrm>
          <a:prstGeom prst="roundRect">
            <a:avLst>
              <a:gd name="adj" fmla="val 5902"/>
            </a:avLst>
          </a:prstGeom>
          <a:solidFill>
            <a:srgbClr val="FCFBF8"/>
          </a:solidFill>
          <a:ln w="6350">
            <a:solidFill>
              <a:srgbClr val="DCD8CC"/>
            </a:solidFill>
            <a:prstDash val="solid"/>
          </a:ln>
        </p:spPr>
      </p:sp>
      <p:sp>
        <p:nvSpPr>
          <p:cNvPr id="17" name="Text 15"/>
          <p:cNvSpPr/>
          <p:nvPr/>
        </p:nvSpPr>
        <p:spPr>
          <a:xfrm>
            <a:off x="6456825" y="4036132"/>
            <a:ext cx="48030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4520C"/>
                </a:solidFill>
                <a:latin typeface="JetBrains Mono" pitchFamily="34" charset="0"/>
                <a:ea typeface="JetBrains Mono" pitchFamily="34" charset="-122"/>
                <a:cs typeface="JetBrains Mono" pitchFamily="34" charset="-120"/>
              </a:rPr>
              <a:t>trossen/soft_object_pick</a:t>
            </a:r>
            <a:endParaRPr lang="en-US" sz="1200" dirty="0"/>
          </a:p>
        </p:txBody>
      </p:sp>
      <p:sp>
        <p:nvSpPr>
          <p:cNvPr id="18" name="Text 16"/>
          <p:cNvSpPr/>
          <p:nvPr/>
        </p:nvSpPr>
        <p:spPr>
          <a:xfrm>
            <a:off x="6456825" y="4325603"/>
            <a:ext cx="4803009"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11A24"/>
                </a:solidFill>
                <a:latin typeface="IBM Plex Sans" pitchFamily="34" charset="0"/>
                <a:ea typeface="IBM Plex Sans" pitchFamily="34" charset="-122"/>
                <a:cs typeface="IBM Plex Sans" pitchFamily="34" charset="-120"/>
              </a:rPr>
              <a:t>Lift a soft object</a:t>
            </a:r>
            <a:endParaRPr lang="en-US" sz="1800" dirty="0"/>
          </a:p>
        </p:txBody>
      </p:sp>
      <p:sp>
        <p:nvSpPr>
          <p:cNvPr id="19" name="Text 17"/>
          <p:cNvSpPr/>
          <p:nvPr/>
        </p:nvSpPr>
        <p:spPr>
          <a:xfrm>
            <a:off x="6456825" y="4676093"/>
            <a:ext cx="4803009" cy="5408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6505C"/>
                </a:solidFill>
                <a:latin typeface="IBM Plex Sans" pitchFamily="34" charset="0"/>
                <a:ea typeface="IBM Plex Sans" pitchFamily="34" charset="-122"/>
                <a:cs typeface="IBM Plex Sans" pitchFamily="34" charset="-120"/>
              </a:rPr>
              <a:t>Pick a deformable object off the table and hold it up. Uses Drake's soft-body simulation.</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20C"/>
                </a:solidFill>
                <a:latin typeface="IBM Plex Sans" pitchFamily="34" charset="0"/>
                <a:ea typeface="IBM Plex Sans" pitchFamily="34" charset="-122"/>
                <a:cs typeface="IBM Plex Sans" pitchFamily="34" charset="-120"/>
              </a:rPr>
              <a:t>METRICS AND RESULTS</a:t>
            </a:r>
            <a:endParaRPr lang="en-US" sz="1200" dirty="0"/>
          </a:p>
        </p:txBody>
      </p:sp>
      <p:sp>
        <p:nvSpPr>
          <p:cNvPr id="3" name="Text 1"/>
          <p:cNvSpPr/>
          <p:nvPr/>
        </p:nvSpPr>
        <p:spPr>
          <a:xfrm>
            <a:off x="812767" y="1127621"/>
            <a:ext cx="10883460"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11A24"/>
                </a:solidFill>
                <a:latin typeface="IBM Plex Sans" pitchFamily="34" charset="0"/>
                <a:ea typeface="IBM Plex Sans" pitchFamily="34" charset="-122"/>
                <a:cs typeface="IBM Plex Sans" pitchFamily="34" charset="-120"/>
              </a:rPr>
              <a:t>Everything measured, nothing lost</a:t>
            </a:r>
            <a:endParaRPr lang="en-US" sz="3200" dirty="0"/>
          </a:p>
        </p:txBody>
      </p:sp>
      <p:sp>
        <p:nvSpPr>
          <p:cNvPr id="4" name="Text 2"/>
          <p:cNvSpPr/>
          <p:nvPr/>
        </p:nvSpPr>
        <p:spPr>
          <a:xfrm>
            <a:off x="812767" y="1899704"/>
            <a:ext cx="6383630"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11A24"/>
                </a:solidFill>
                <a:latin typeface="IBM Plex Sans" pitchFamily="34" charset="0"/>
                <a:ea typeface="IBM Plex Sans" pitchFamily="34" charset="-122"/>
                <a:cs typeface="IBM Plex Sans" pitchFamily="34" charset="-120"/>
              </a:rPr>
              <a:t>Standard metrics</a:t>
            </a:r>
            <a:endParaRPr lang="en-US" sz="1800" dirty="0"/>
          </a:p>
        </p:txBody>
      </p:sp>
      <p:sp>
        <p:nvSpPr>
          <p:cNvPr id="5" name="Shape 3"/>
          <p:cNvSpPr/>
          <p:nvPr/>
        </p:nvSpPr>
        <p:spPr>
          <a:xfrm>
            <a:off x="812767" y="2275582"/>
            <a:ext cx="811775" cy="314854"/>
          </a:xfrm>
          <a:prstGeom prst="roundRect">
            <a:avLst>
              <a:gd name="adj" fmla="val 50000"/>
            </a:avLst>
          </a:prstGeom>
          <a:solidFill>
            <a:srgbClr val="EFE2D0"/>
          </a:solidFill>
          <a:ln/>
        </p:spPr>
      </p:sp>
      <p:sp>
        <p:nvSpPr>
          <p:cNvPr id="6" name="Text 4"/>
          <p:cNvSpPr/>
          <p:nvPr/>
        </p:nvSpPr>
        <p:spPr>
          <a:xfrm>
            <a:off x="939767" y="2326382"/>
            <a:ext cx="608575"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430"/>
                </a:solidFill>
                <a:latin typeface="IBM Plex Sans" pitchFamily="34" charset="0"/>
                <a:ea typeface="IBM Plex Sans" pitchFamily="34" charset="-122"/>
                <a:cs typeface="IBM Plex Sans" pitchFamily="34" charset="-120"/>
              </a:rPr>
              <a:t>Success</a:t>
            </a:r>
            <a:endParaRPr lang="en-US" sz="1200" dirty="0"/>
          </a:p>
        </p:txBody>
      </p:sp>
      <p:sp>
        <p:nvSpPr>
          <p:cNvPr id="7" name="Shape 5"/>
          <p:cNvSpPr/>
          <p:nvPr/>
        </p:nvSpPr>
        <p:spPr>
          <a:xfrm>
            <a:off x="1700692" y="2275582"/>
            <a:ext cx="1577165" cy="314854"/>
          </a:xfrm>
          <a:prstGeom prst="roundRect">
            <a:avLst>
              <a:gd name="adj" fmla="val 50000"/>
            </a:avLst>
          </a:prstGeom>
          <a:solidFill>
            <a:srgbClr val="EFE2D0"/>
          </a:solidFill>
          <a:ln/>
        </p:spPr>
      </p:sp>
      <p:sp>
        <p:nvSpPr>
          <p:cNvPr id="8" name="Text 6"/>
          <p:cNvSpPr/>
          <p:nvPr/>
        </p:nvSpPr>
        <p:spPr>
          <a:xfrm>
            <a:off x="1827692" y="2326382"/>
            <a:ext cx="1373965"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430"/>
                </a:solidFill>
                <a:latin typeface="IBM Plex Sans" pitchFamily="34" charset="0"/>
                <a:ea typeface="IBM Plex Sans" pitchFamily="34" charset="-122"/>
                <a:cs typeface="IBM Plex Sans" pitchFamily="34" charset="-120"/>
              </a:rPr>
              <a:t>Time to completion</a:t>
            </a:r>
            <a:endParaRPr lang="en-US" sz="1200" dirty="0"/>
          </a:p>
        </p:txBody>
      </p:sp>
      <p:sp>
        <p:nvSpPr>
          <p:cNvPr id="9" name="Shape 7"/>
          <p:cNvSpPr/>
          <p:nvPr/>
        </p:nvSpPr>
        <p:spPr>
          <a:xfrm>
            <a:off x="3354007" y="2275582"/>
            <a:ext cx="940098" cy="314854"/>
          </a:xfrm>
          <a:prstGeom prst="roundRect">
            <a:avLst>
              <a:gd name="adj" fmla="val 50000"/>
            </a:avLst>
          </a:prstGeom>
          <a:solidFill>
            <a:srgbClr val="EFE2D0"/>
          </a:solidFill>
          <a:ln/>
        </p:spPr>
      </p:sp>
      <p:sp>
        <p:nvSpPr>
          <p:cNvPr id="10" name="Text 8"/>
          <p:cNvSpPr/>
          <p:nvPr/>
        </p:nvSpPr>
        <p:spPr>
          <a:xfrm>
            <a:off x="3481007" y="2326382"/>
            <a:ext cx="736898"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430"/>
                </a:solidFill>
                <a:latin typeface="IBM Plex Sans" pitchFamily="34" charset="0"/>
                <a:ea typeface="IBM Plex Sans" pitchFamily="34" charset="-122"/>
                <a:cs typeface="IBM Plex Sans" pitchFamily="34" charset="-120"/>
              </a:rPr>
              <a:t>Goal error</a:t>
            </a:r>
            <a:endParaRPr lang="en-US" sz="1200" dirty="0"/>
          </a:p>
        </p:txBody>
      </p:sp>
      <p:sp>
        <p:nvSpPr>
          <p:cNvPr id="11" name="Shape 9"/>
          <p:cNvSpPr/>
          <p:nvPr/>
        </p:nvSpPr>
        <p:spPr>
          <a:xfrm>
            <a:off x="4370255" y="2275582"/>
            <a:ext cx="1205094" cy="314854"/>
          </a:xfrm>
          <a:prstGeom prst="roundRect">
            <a:avLst>
              <a:gd name="adj" fmla="val 50000"/>
            </a:avLst>
          </a:prstGeom>
          <a:solidFill>
            <a:srgbClr val="EFE2D0"/>
          </a:solidFill>
          <a:ln/>
        </p:spPr>
      </p:sp>
      <p:sp>
        <p:nvSpPr>
          <p:cNvPr id="12" name="Text 10"/>
          <p:cNvSpPr/>
          <p:nvPr/>
        </p:nvSpPr>
        <p:spPr>
          <a:xfrm>
            <a:off x="4497255" y="2326382"/>
            <a:ext cx="1001894"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430"/>
                </a:solidFill>
                <a:latin typeface="IBM Plex Sans" pitchFamily="34" charset="0"/>
                <a:ea typeface="IBM Plex Sans" pitchFamily="34" charset="-122"/>
                <a:cs typeface="IBM Plex Sans" pitchFamily="34" charset="-120"/>
              </a:rPr>
              <a:t>Tracking error</a:t>
            </a:r>
            <a:endParaRPr lang="en-US" sz="1200" dirty="0"/>
          </a:p>
        </p:txBody>
      </p:sp>
      <p:sp>
        <p:nvSpPr>
          <p:cNvPr id="13" name="Shape 11"/>
          <p:cNvSpPr/>
          <p:nvPr/>
        </p:nvSpPr>
        <p:spPr>
          <a:xfrm>
            <a:off x="5651500" y="2275582"/>
            <a:ext cx="636406" cy="314854"/>
          </a:xfrm>
          <a:prstGeom prst="roundRect">
            <a:avLst>
              <a:gd name="adj" fmla="val 50000"/>
            </a:avLst>
          </a:prstGeom>
          <a:solidFill>
            <a:srgbClr val="EFE2D0"/>
          </a:solidFill>
          <a:ln/>
        </p:spPr>
      </p:sp>
      <p:sp>
        <p:nvSpPr>
          <p:cNvPr id="14" name="Text 12"/>
          <p:cNvSpPr/>
          <p:nvPr/>
        </p:nvSpPr>
        <p:spPr>
          <a:xfrm>
            <a:off x="5778500" y="2326382"/>
            <a:ext cx="433206"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430"/>
                </a:solidFill>
                <a:latin typeface="IBM Plex Sans" pitchFamily="34" charset="0"/>
                <a:ea typeface="IBM Plex Sans" pitchFamily="34" charset="-122"/>
                <a:cs typeface="IBM Plex Sans" pitchFamily="34" charset="-120"/>
              </a:rPr>
              <a:t>Effort</a:t>
            </a:r>
            <a:endParaRPr lang="en-US" sz="1200" dirty="0"/>
          </a:p>
        </p:txBody>
      </p:sp>
      <p:sp>
        <p:nvSpPr>
          <p:cNvPr id="15" name="Shape 13"/>
          <p:cNvSpPr/>
          <p:nvPr/>
        </p:nvSpPr>
        <p:spPr>
          <a:xfrm>
            <a:off x="812767" y="2666585"/>
            <a:ext cx="722809" cy="314854"/>
          </a:xfrm>
          <a:prstGeom prst="roundRect">
            <a:avLst>
              <a:gd name="adj" fmla="val 50000"/>
            </a:avLst>
          </a:prstGeom>
          <a:solidFill>
            <a:srgbClr val="EFE2D0"/>
          </a:solidFill>
          <a:ln/>
        </p:spPr>
      </p:sp>
      <p:sp>
        <p:nvSpPr>
          <p:cNvPr id="16" name="Text 14"/>
          <p:cNvSpPr/>
          <p:nvPr/>
        </p:nvSpPr>
        <p:spPr>
          <a:xfrm>
            <a:off x="939767" y="2717385"/>
            <a:ext cx="519609"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430"/>
                </a:solidFill>
                <a:latin typeface="IBM Plex Sans" pitchFamily="34" charset="0"/>
                <a:ea typeface="IBM Plex Sans" pitchFamily="34" charset="-122"/>
                <a:cs typeface="IBM Plex Sans" pitchFamily="34" charset="-120"/>
              </a:rPr>
              <a:t>Energy</a:t>
            </a:r>
            <a:endParaRPr lang="en-US" sz="1200" dirty="0"/>
          </a:p>
        </p:txBody>
      </p:sp>
      <p:sp>
        <p:nvSpPr>
          <p:cNvPr id="17" name="Shape 15"/>
          <p:cNvSpPr/>
          <p:nvPr/>
        </p:nvSpPr>
        <p:spPr>
          <a:xfrm>
            <a:off x="1611726" y="2666585"/>
            <a:ext cx="912647" cy="314854"/>
          </a:xfrm>
          <a:prstGeom prst="roundRect">
            <a:avLst>
              <a:gd name="adj" fmla="val 50000"/>
            </a:avLst>
          </a:prstGeom>
          <a:solidFill>
            <a:srgbClr val="EFE2D0"/>
          </a:solidFill>
          <a:ln/>
        </p:spPr>
      </p:sp>
      <p:sp>
        <p:nvSpPr>
          <p:cNvPr id="18" name="Text 16"/>
          <p:cNvSpPr/>
          <p:nvPr/>
        </p:nvSpPr>
        <p:spPr>
          <a:xfrm>
            <a:off x="1738726" y="2717385"/>
            <a:ext cx="709447"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430"/>
                </a:solidFill>
                <a:latin typeface="IBM Plex Sans" pitchFamily="34" charset="0"/>
                <a:ea typeface="IBM Plex Sans" pitchFamily="34" charset="-122"/>
                <a:cs typeface="IBM Plex Sans" pitchFamily="34" charset="-120"/>
              </a:rPr>
              <a:t>Collisions</a:t>
            </a:r>
            <a:endParaRPr lang="en-US" sz="1200" dirty="0"/>
          </a:p>
        </p:txBody>
      </p:sp>
      <p:sp>
        <p:nvSpPr>
          <p:cNvPr id="19" name="Shape 17"/>
          <p:cNvSpPr/>
          <p:nvPr/>
        </p:nvSpPr>
        <p:spPr>
          <a:xfrm>
            <a:off x="2600523" y="2666585"/>
            <a:ext cx="1651992" cy="314854"/>
          </a:xfrm>
          <a:prstGeom prst="roundRect">
            <a:avLst>
              <a:gd name="adj" fmla="val 50000"/>
            </a:avLst>
          </a:prstGeom>
          <a:solidFill>
            <a:srgbClr val="EFE2D0"/>
          </a:solidFill>
          <a:ln/>
        </p:spPr>
      </p:sp>
      <p:sp>
        <p:nvSpPr>
          <p:cNvPr id="20" name="Text 18"/>
          <p:cNvSpPr/>
          <p:nvPr/>
        </p:nvSpPr>
        <p:spPr>
          <a:xfrm>
            <a:off x="2727523" y="2717385"/>
            <a:ext cx="1448792"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430"/>
                </a:solidFill>
                <a:latin typeface="IBM Plex Sans" pitchFamily="34" charset="0"/>
                <a:ea typeface="IBM Plex Sans" pitchFamily="34" charset="-122"/>
                <a:cs typeface="IBM Plex Sans" pitchFamily="34" charset="-120"/>
              </a:rPr>
              <a:t>Joint-limit violations</a:t>
            </a:r>
            <a:endParaRPr lang="en-US" sz="1200" dirty="0"/>
          </a:p>
        </p:txBody>
      </p:sp>
      <p:sp>
        <p:nvSpPr>
          <p:cNvPr id="21" name="Shape 19"/>
          <p:cNvSpPr/>
          <p:nvPr/>
        </p:nvSpPr>
        <p:spPr>
          <a:xfrm>
            <a:off x="4328666" y="2666585"/>
            <a:ext cx="1886231" cy="314854"/>
          </a:xfrm>
          <a:prstGeom prst="roundRect">
            <a:avLst>
              <a:gd name="adj" fmla="val 50000"/>
            </a:avLst>
          </a:prstGeom>
          <a:solidFill>
            <a:srgbClr val="EFE2D0"/>
          </a:solidFill>
          <a:ln/>
        </p:spPr>
      </p:sp>
      <p:sp>
        <p:nvSpPr>
          <p:cNvPr id="22" name="Text 20"/>
          <p:cNvSpPr/>
          <p:nvPr/>
        </p:nvSpPr>
        <p:spPr>
          <a:xfrm>
            <a:off x="4455666" y="2717385"/>
            <a:ext cx="1683031"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430"/>
                </a:solidFill>
                <a:latin typeface="IBM Plex Sans" pitchFamily="34" charset="0"/>
                <a:ea typeface="IBM Plex Sans" pitchFamily="34" charset="-122"/>
                <a:cs typeface="IBM Plex Sans" pitchFamily="34" charset="-120"/>
              </a:rPr>
              <a:t>Command violation rate</a:t>
            </a:r>
            <a:endParaRPr lang="en-US" sz="1200" dirty="0"/>
          </a:p>
        </p:txBody>
      </p:sp>
      <p:sp>
        <p:nvSpPr>
          <p:cNvPr id="23" name="Shape 21"/>
          <p:cNvSpPr/>
          <p:nvPr/>
        </p:nvSpPr>
        <p:spPr>
          <a:xfrm>
            <a:off x="812767" y="3057587"/>
            <a:ext cx="1516807" cy="314854"/>
          </a:xfrm>
          <a:prstGeom prst="roundRect">
            <a:avLst>
              <a:gd name="adj" fmla="val 50000"/>
            </a:avLst>
          </a:prstGeom>
          <a:solidFill>
            <a:srgbClr val="EFE2D0"/>
          </a:solidFill>
          <a:ln/>
        </p:spPr>
      </p:sp>
      <p:sp>
        <p:nvSpPr>
          <p:cNvPr id="24" name="Text 22"/>
          <p:cNvSpPr/>
          <p:nvPr/>
        </p:nvSpPr>
        <p:spPr>
          <a:xfrm>
            <a:off x="939767" y="3108387"/>
            <a:ext cx="1313607"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430"/>
                </a:solidFill>
                <a:latin typeface="IBM Plex Sans" pitchFamily="34" charset="0"/>
                <a:ea typeface="IBM Plex Sans" pitchFamily="34" charset="-122"/>
                <a:cs typeface="IBM Plex Sans" pitchFamily="34" charset="-120"/>
              </a:rPr>
              <a:t>Invalid commands</a:t>
            </a:r>
            <a:endParaRPr lang="en-US" sz="1200" dirty="0"/>
          </a:p>
        </p:txBody>
      </p:sp>
      <p:sp>
        <p:nvSpPr>
          <p:cNvPr id="25" name="Shape 23"/>
          <p:cNvSpPr/>
          <p:nvPr/>
        </p:nvSpPr>
        <p:spPr>
          <a:xfrm>
            <a:off x="2405724" y="3057587"/>
            <a:ext cx="1470835" cy="314854"/>
          </a:xfrm>
          <a:prstGeom prst="roundRect">
            <a:avLst>
              <a:gd name="adj" fmla="val 50000"/>
            </a:avLst>
          </a:prstGeom>
          <a:solidFill>
            <a:srgbClr val="EFE2D0"/>
          </a:solidFill>
          <a:ln/>
        </p:spPr>
      </p:sp>
      <p:sp>
        <p:nvSpPr>
          <p:cNvPr id="26" name="Text 24"/>
          <p:cNvSpPr/>
          <p:nvPr/>
        </p:nvSpPr>
        <p:spPr>
          <a:xfrm>
            <a:off x="2532724" y="3108387"/>
            <a:ext cx="1267635"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430"/>
                </a:solidFill>
                <a:latin typeface="IBM Plex Sans" pitchFamily="34" charset="0"/>
                <a:ea typeface="IBM Plex Sans" pitchFamily="34" charset="-122"/>
                <a:cs typeface="IBM Plex Sans" pitchFamily="34" charset="-120"/>
              </a:rPr>
              <a:t>Controller latency</a:t>
            </a:r>
            <a:endParaRPr lang="en-US" sz="1200" dirty="0"/>
          </a:p>
        </p:txBody>
      </p:sp>
      <p:sp>
        <p:nvSpPr>
          <p:cNvPr id="27" name="Text 25"/>
          <p:cNvSpPr/>
          <p:nvPr/>
        </p:nvSpPr>
        <p:spPr>
          <a:xfrm>
            <a:off x="812767" y="3550208"/>
            <a:ext cx="6383630"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11A24"/>
                </a:solidFill>
                <a:latin typeface="IBM Plex Sans" pitchFamily="34" charset="0"/>
                <a:ea typeface="IBM Plex Sans" pitchFamily="34" charset="-122"/>
                <a:cs typeface="IBM Plex Sans" pitchFamily="34" charset="-120"/>
              </a:rPr>
              <a:t>Across episodes</a:t>
            </a:r>
            <a:endParaRPr lang="en-US" sz="1800" dirty="0"/>
          </a:p>
        </p:txBody>
      </p:sp>
      <p:sp>
        <p:nvSpPr>
          <p:cNvPr id="28" name="Text 26"/>
          <p:cNvSpPr/>
          <p:nvPr/>
        </p:nvSpPr>
        <p:spPr>
          <a:xfrm>
            <a:off x="812767" y="3900698"/>
            <a:ext cx="6383630" cy="5408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6505C"/>
                </a:solidFill>
                <a:latin typeface="IBM Plex Sans" pitchFamily="34" charset="0"/>
                <a:ea typeface="IBM Plex Sans" pitchFamily="34" charset="-122"/>
                <a:cs typeface="IBM Plex Sans" pitchFamily="34" charset="-120"/>
              </a:rPr>
              <a:t>Mean, spread, median and 95% confidence interval per test, plus a breakdown of why episodes failed.</a:t>
            </a:r>
            <a:endParaRPr lang="en-US" sz="1400" dirty="0"/>
          </a:p>
        </p:txBody>
      </p:sp>
      <p:sp>
        <p:nvSpPr>
          <p:cNvPr id="29" name="Shape 27"/>
          <p:cNvSpPr/>
          <p:nvPr/>
        </p:nvSpPr>
        <p:spPr>
          <a:xfrm>
            <a:off x="7315233" y="1899704"/>
            <a:ext cx="4064000" cy="2701727"/>
          </a:xfrm>
          <a:prstGeom prst="roundRect">
            <a:avLst>
              <a:gd name="adj" fmla="val 3761"/>
            </a:avLst>
          </a:prstGeom>
          <a:solidFill>
            <a:srgbClr val="111A24"/>
          </a:solidFill>
          <a:ln/>
        </p:spPr>
      </p:sp>
      <p:sp>
        <p:nvSpPr>
          <p:cNvPr id="30" name="Text 28"/>
          <p:cNvSpPr/>
          <p:nvPr/>
        </p:nvSpPr>
        <p:spPr>
          <a:xfrm>
            <a:off x="7569233" y="2153704"/>
            <a:ext cx="3662680" cy="2219127"/>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E8963A"/>
                </a:solidFill>
                <a:latin typeface="JetBrains Mono" pitchFamily="34" charset="0"/>
                <a:ea typeface="JetBrains Mono" pitchFamily="34" charset="-122"/>
                <a:cs typeface="JetBrains Mono" pitchFamily="34" charset="-120"/>
              </a:rPr>
              <a:t>results/&lt;run_id&gt;/</a:t>
            </a:r>
            <a:endParaRPr lang="en-US" sz="1200" dirty="0"/>
          </a:p>
          <a:p>
            <a:pPr algn="l" indent="0" marL="0">
              <a:lnSpc>
                <a:spcPts val="1920"/>
              </a:lnSpc>
              <a:buNone/>
            </a:pPr>
            <a:r>
              <a:rPr lang="en-US" sz="1200" dirty="0">
                <a:solidFill>
                  <a:srgbClr val="E6E2D6"/>
                </a:solidFill>
                <a:latin typeface="JetBrains Mono" pitchFamily="34" charset="0"/>
                <a:ea typeface="JetBrains Mono" pitchFamily="34" charset="-122"/>
                <a:cs typeface="JetBrains Mono" pitchFamily="34" charset="-120"/>
              </a:rPr>
              <a:t>  metadata.json</a:t>
            </a:r>
            <a:endParaRPr lang="en-US" sz="1200" dirty="0"/>
          </a:p>
          <a:p>
            <a:pPr algn="l" indent="0" marL="0">
              <a:lnSpc>
                <a:spcPts val="1920"/>
              </a:lnSpc>
              <a:buNone/>
            </a:pPr>
            <a:r>
              <a:rPr lang="en-US" sz="1200" dirty="0">
                <a:solidFill>
                  <a:srgbClr val="E6E2D6"/>
                </a:solidFill>
                <a:latin typeface="JetBrains Mono" pitchFamily="34" charset="0"/>
                <a:ea typeface="JetBrains Mono" pitchFamily="34" charset="-122"/>
                <a:cs typeface="JetBrains Mono" pitchFamily="34" charset="-120"/>
              </a:rPr>
              <a:t>  episodes.jsonl</a:t>
            </a:r>
            <a:endParaRPr lang="en-US" sz="1200" dirty="0"/>
          </a:p>
          <a:p>
            <a:pPr algn="l" indent="0" marL="0">
              <a:lnSpc>
                <a:spcPts val="1920"/>
              </a:lnSpc>
              <a:buNone/>
            </a:pPr>
            <a:r>
              <a:rPr lang="en-US" sz="1200" dirty="0">
                <a:solidFill>
                  <a:srgbClr val="E6E2D6"/>
                </a:solidFill>
                <a:latin typeface="JetBrains Mono" pitchFamily="34" charset="0"/>
                <a:ea typeface="JetBrains Mono" pitchFamily="34" charset="-122"/>
                <a:cs typeface="JetBrains Mono" pitchFamily="34" charset="-120"/>
              </a:rPr>
              <a:t>  episodes.csv</a:t>
            </a:r>
            <a:endParaRPr lang="en-US" sz="1200" dirty="0"/>
          </a:p>
          <a:p>
            <a:pPr algn="l" indent="0" marL="0">
              <a:lnSpc>
                <a:spcPts val="1920"/>
              </a:lnSpc>
              <a:buNone/>
            </a:pPr>
            <a:r>
              <a:rPr lang="en-US" sz="1200" dirty="0">
                <a:solidFill>
                  <a:srgbClr val="E6E2D6"/>
                </a:solidFill>
                <a:latin typeface="JetBrains Mono" pitchFamily="34" charset="0"/>
                <a:ea typeface="JetBrains Mono" pitchFamily="34" charset="-122"/>
                <a:cs typeface="JetBrains Mono" pitchFamily="34" charset="-120"/>
              </a:rPr>
              <a:t>  violations.csv</a:t>
            </a:r>
            <a:endParaRPr lang="en-US" sz="1200" dirty="0"/>
          </a:p>
          <a:p>
            <a:pPr algn="l" indent="0" marL="0">
              <a:lnSpc>
                <a:spcPts val="1920"/>
              </a:lnSpc>
              <a:buNone/>
            </a:pPr>
            <a:r>
              <a:rPr lang="en-US" sz="1200" dirty="0">
                <a:solidFill>
                  <a:srgbClr val="E6E2D6"/>
                </a:solidFill>
                <a:latin typeface="JetBrains Mono" pitchFamily="34" charset="0"/>
                <a:ea typeface="JetBrains Mono" pitchFamily="34" charset="-122"/>
                <a:cs typeface="JetBrains Mono" pitchFamily="34" charset="-120"/>
              </a:rPr>
              <a:t>  invalid_commands.csv</a:t>
            </a:r>
            <a:endParaRPr lang="en-US" sz="1200" dirty="0"/>
          </a:p>
          <a:p>
            <a:pPr algn="l" indent="0" marL="0">
              <a:lnSpc>
                <a:spcPts val="1920"/>
              </a:lnSpc>
              <a:buNone/>
            </a:pPr>
            <a:r>
              <a:rPr lang="en-US" sz="1200" dirty="0">
                <a:solidFill>
                  <a:srgbClr val="E6E2D6"/>
                </a:solidFill>
                <a:latin typeface="JetBrains Mono" pitchFamily="34" charset="0"/>
                <a:ea typeface="JetBrains Mono" pitchFamily="34" charset="-122"/>
                <a:cs typeface="JetBrains Mono" pitchFamily="34" charset="-120"/>
              </a:rPr>
              <a:t>  summary.json</a:t>
            </a:r>
            <a:endParaRPr lang="en-US" sz="1200" dirty="0"/>
          </a:p>
          <a:p>
            <a:pPr algn="l" indent="0" marL="0">
              <a:lnSpc>
                <a:spcPts val="1920"/>
              </a:lnSpc>
              <a:buNone/>
            </a:pPr>
            <a:r>
              <a:rPr lang="en-US" sz="1200" dirty="0">
                <a:solidFill>
                  <a:srgbClr val="E6E2D6"/>
                </a:solidFill>
                <a:latin typeface="JetBrains Mono" pitchFamily="34" charset="0"/>
                <a:ea typeface="JetBrains Mono" pitchFamily="34" charset="-122"/>
                <a:cs typeface="JetBrains Mono" pitchFamily="34" charset="-120"/>
              </a:rPr>
              <a:t>  recordings/</a:t>
            </a:r>
            <a:endParaRPr lang="en-US" sz="1200" dirty="0"/>
          </a:p>
          <a:p>
            <a:pPr algn="l" indent="0" marL="0">
              <a:lnSpc>
                <a:spcPts val="1920"/>
              </a:lnSpc>
              <a:buNone/>
            </a:pPr>
            <a:r>
              <a:rPr lang="en-US" sz="1200" dirty="0">
                <a:solidFill>
                  <a:srgbClr val="E6E2D6"/>
                </a:solidFill>
                <a:latin typeface="JetBrains Mono" pitchFamily="34" charset="0"/>
                <a:ea typeface="JetBrains Mono" pitchFamily="34" charset="-122"/>
                <a:cs typeface="JetBrains Mono" pitchFamily="34" charset="-120"/>
              </a:rPr>
              <a:t>  controller_logs/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20C"/>
                </a:solidFill>
                <a:latin typeface="IBM Plex Sans" pitchFamily="34" charset="0"/>
                <a:ea typeface="IBM Plex Sans" pitchFamily="34" charset="-122"/>
                <a:cs typeface="IBM Plex Sans" pitchFamily="34" charset="-120"/>
              </a:rPr>
              <a:t>LLM SUPPORT</a:t>
            </a:r>
            <a:endParaRPr lang="en-US" sz="1200" dirty="0"/>
          </a:p>
        </p:txBody>
      </p:sp>
      <p:sp>
        <p:nvSpPr>
          <p:cNvPr id="3" name="Text 1"/>
          <p:cNvSpPr/>
          <p:nvPr/>
        </p:nvSpPr>
        <p:spPr>
          <a:xfrm>
            <a:off x="812767" y="1127621"/>
            <a:ext cx="10883460"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11A24"/>
                </a:solidFill>
                <a:latin typeface="IBM Plex Sans" pitchFamily="34" charset="0"/>
                <a:ea typeface="IBM Plex Sans" pitchFamily="34" charset="-122"/>
                <a:cs typeface="IBM Plex Sans" pitchFamily="34" charset="-120"/>
              </a:rPr>
              <a:t>A light harness for language models</a:t>
            </a:r>
            <a:endParaRPr lang="en-US" sz="3200" dirty="0"/>
          </a:p>
        </p:txBody>
      </p:sp>
      <p:sp>
        <p:nvSpPr>
          <p:cNvPr id="4" name="Shape 2"/>
          <p:cNvSpPr/>
          <p:nvPr/>
        </p:nvSpPr>
        <p:spPr>
          <a:xfrm>
            <a:off x="815942" y="1953648"/>
            <a:ext cx="3380317" cy="2786244"/>
          </a:xfrm>
          <a:prstGeom prst="roundRect">
            <a:avLst>
              <a:gd name="adj" fmla="val 3533"/>
            </a:avLst>
          </a:prstGeom>
          <a:solidFill>
            <a:srgbClr val="FCFBF8"/>
          </a:solidFill>
          <a:ln w="6350">
            <a:solidFill>
              <a:srgbClr val="DCD8CC"/>
            </a:solidFill>
            <a:prstDash val="solid"/>
          </a:ln>
        </p:spPr>
      </p:sp>
      <p:pic>
        <p:nvPicPr>
          <p:cNvPr id="5" name="Image 0" descr="Chat">    </p:cNvPr>
          <p:cNvPicPr>
            <a:picLocks noChangeAspect="1"/>
          </p:cNvPicPr>
          <p:nvPr/>
        </p:nvPicPr>
        <p:blipFill>
          <a:blip r:embed="rId1"/>
          <a:srcRect l="0" r="0" t="0" b="0"/>
          <a:stretch/>
        </p:blipFill>
        <p:spPr>
          <a:xfrm>
            <a:off x="1122825" y="2260532"/>
            <a:ext cx="355534" cy="355534"/>
          </a:xfrm>
          <a:prstGeom prst="rect">
            <a:avLst/>
          </a:prstGeom>
        </p:spPr>
      </p:pic>
      <p:sp>
        <p:nvSpPr>
          <p:cNvPr id="6" name="Text 3"/>
          <p:cNvSpPr/>
          <p:nvPr/>
        </p:nvSpPr>
        <p:spPr>
          <a:xfrm>
            <a:off x="1122825" y="2743064"/>
            <a:ext cx="2849546"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11A24"/>
                </a:solidFill>
                <a:latin typeface="IBM Plex Sans" pitchFamily="34" charset="0"/>
                <a:ea typeface="IBM Plex Sans" pitchFamily="34" charset="-122"/>
                <a:cs typeface="IBM Plex Sans" pitchFamily="34" charset="-120"/>
              </a:rPr>
              <a:t>Prompt harness</a:t>
            </a:r>
            <a:endParaRPr lang="en-US" sz="1800" dirty="0"/>
          </a:p>
        </p:txBody>
      </p:sp>
      <p:sp>
        <p:nvSpPr>
          <p:cNvPr id="7" name="Text 4"/>
          <p:cNvSpPr/>
          <p:nvPr/>
        </p:nvSpPr>
        <p:spPr>
          <a:xfrm>
            <a:off x="1122825" y="3144403"/>
            <a:ext cx="2849546" cy="1314004"/>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6505C"/>
                </a:solidFill>
                <a:latin typeface="IBM Plex Sans" pitchFamily="34" charset="0"/>
                <a:ea typeface="IBM Plex Sans" pitchFamily="34" charset="-122"/>
                <a:cs typeface="IBM Plex Sans" pitchFamily="34" charset="-120"/>
              </a:rPr>
              <a:t>Builds each prompt from instructions, constants, memory and the observation. You write two functions: format the observation and parse the reply.</a:t>
            </a:r>
            <a:endParaRPr lang="en-US" sz="1400" dirty="0"/>
          </a:p>
        </p:txBody>
      </p:sp>
      <p:sp>
        <p:nvSpPr>
          <p:cNvPr id="8" name="Shape 5"/>
          <p:cNvSpPr/>
          <p:nvPr/>
        </p:nvSpPr>
        <p:spPr>
          <a:xfrm>
            <a:off x="4405759" y="1953648"/>
            <a:ext cx="3380399" cy="2786244"/>
          </a:xfrm>
          <a:prstGeom prst="roundRect">
            <a:avLst>
              <a:gd name="adj" fmla="val 3533"/>
            </a:avLst>
          </a:prstGeom>
          <a:solidFill>
            <a:srgbClr val="FCFBF8"/>
          </a:solidFill>
          <a:ln w="6350">
            <a:solidFill>
              <a:srgbClr val="DCD8CC"/>
            </a:solidFill>
            <a:prstDash val="solid"/>
          </a:ln>
        </p:spPr>
      </p:sp>
      <p:pic>
        <p:nvPicPr>
          <p:cNvPr id="9" name="Image 1" descr="Database">    </p:cNvPr>
          <p:cNvPicPr>
            <a:picLocks noChangeAspect="1"/>
          </p:cNvPicPr>
          <p:nvPr/>
        </p:nvPicPr>
        <p:blipFill>
          <a:blip r:embed="rId2"/>
          <a:srcRect l="0" r="0" t="0" b="0"/>
          <a:stretch/>
        </p:blipFill>
        <p:spPr>
          <a:xfrm>
            <a:off x="4712643" y="2260532"/>
            <a:ext cx="355534" cy="355534"/>
          </a:xfrm>
          <a:prstGeom prst="rect">
            <a:avLst/>
          </a:prstGeom>
        </p:spPr>
      </p:pic>
      <p:sp>
        <p:nvSpPr>
          <p:cNvPr id="10" name="Text 6"/>
          <p:cNvSpPr/>
          <p:nvPr/>
        </p:nvSpPr>
        <p:spPr>
          <a:xfrm>
            <a:off x="4712643" y="2743064"/>
            <a:ext cx="2849631"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11A24"/>
                </a:solidFill>
                <a:latin typeface="IBM Plex Sans" pitchFamily="34" charset="0"/>
                <a:ea typeface="IBM Plex Sans" pitchFamily="34" charset="-122"/>
                <a:cs typeface="IBM Plex Sans" pitchFamily="34" charset="-120"/>
              </a:rPr>
              <a:t>Memory</a:t>
            </a:r>
            <a:endParaRPr lang="en-US" sz="1800" dirty="0"/>
          </a:p>
        </p:txBody>
      </p:sp>
      <p:sp>
        <p:nvSpPr>
          <p:cNvPr id="11" name="Text 7"/>
          <p:cNvSpPr/>
          <p:nvPr/>
        </p:nvSpPr>
        <p:spPr>
          <a:xfrm>
            <a:off x="4712643" y="3144403"/>
            <a:ext cx="2849631" cy="1056283"/>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6505C"/>
                </a:solidFill>
                <a:latin typeface="IBM Plex Sans" pitchFamily="34" charset="0"/>
                <a:ea typeface="IBM Plex Sans" pitchFamily="34" charset="-122"/>
                <a:cs typeface="IBM Plex Sans" pitchFamily="34" charset="-120"/>
              </a:rPr>
              <a:t>Episode memory clears on every reset. Memory across episodes is opt-in, since learning between runs changes what is measured.</a:t>
            </a:r>
            <a:endParaRPr lang="en-US" sz="1400" dirty="0"/>
          </a:p>
        </p:txBody>
      </p:sp>
      <p:sp>
        <p:nvSpPr>
          <p:cNvPr id="12" name="Shape 8"/>
          <p:cNvSpPr/>
          <p:nvPr/>
        </p:nvSpPr>
        <p:spPr>
          <a:xfrm>
            <a:off x="7995658" y="1953648"/>
            <a:ext cx="3380399" cy="2786244"/>
          </a:xfrm>
          <a:prstGeom prst="roundRect">
            <a:avLst>
              <a:gd name="adj" fmla="val 3533"/>
            </a:avLst>
          </a:prstGeom>
          <a:solidFill>
            <a:srgbClr val="FCFBF8"/>
          </a:solidFill>
          <a:ln w="6350">
            <a:solidFill>
              <a:srgbClr val="DCD8CC"/>
            </a:solidFill>
            <a:prstDash val="solid"/>
          </a:ln>
        </p:spPr>
      </p:sp>
      <p:pic>
        <p:nvPicPr>
          <p:cNvPr id="13" name="Image 2" descr="Book">    </p:cNvPr>
          <p:cNvPicPr>
            <a:picLocks noChangeAspect="1"/>
          </p:cNvPicPr>
          <p:nvPr/>
        </p:nvPicPr>
        <p:blipFill>
          <a:blip r:embed="rId3"/>
          <a:srcRect l="0" r="0" t="0" b="0"/>
          <a:stretch/>
        </p:blipFill>
        <p:spPr>
          <a:xfrm>
            <a:off x="8302542" y="2260532"/>
            <a:ext cx="355534" cy="355534"/>
          </a:xfrm>
          <a:prstGeom prst="rect">
            <a:avLst/>
          </a:prstGeom>
        </p:spPr>
      </p:pic>
      <p:sp>
        <p:nvSpPr>
          <p:cNvPr id="14" name="Text 9"/>
          <p:cNvSpPr/>
          <p:nvPr/>
        </p:nvSpPr>
        <p:spPr>
          <a:xfrm>
            <a:off x="8302542" y="2743064"/>
            <a:ext cx="2849631"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11A24"/>
                </a:solidFill>
                <a:latin typeface="IBM Plex Sans" pitchFamily="34" charset="0"/>
                <a:ea typeface="IBM Plex Sans" pitchFamily="34" charset="-122"/>
                <a:cs typeface="IBM Plex Sans" pitchFamily="34" charset="-120"/>
              </a:rPr>
              <a:t>Reference sheet</a:t>
            </a:r>
            <a:endParaRPr lang="en-US" sz="1800" dirty="0"/>
          </a:p>
        </p:txBody>
      </p:sp>
      <p:sp>
        <p:nvSpPr>
          <p:cNvPr id="15" name="Text 10"/>
          <p:cNvSpPr/>
          <p:nvPr/>
        </p:nvSpPr>
        <p:spPr>
          <a:xfrm>
            <a:off x="8302542" y="3144403"/>
            <a:ext cx="2849631" cy="1056283"/>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6505C"/>
                </a:solidFill>
                <a:latin typeface="IBM Plex Sans" pitchFamily="34" charset="0"/>
                <a:ea typeface="IBM Plex Sans" pitchFamily="34" charset="-122"/>
                <a:cs typeface="IBM Plex Sans" pitchFamily="34" charset="-120"/>
              </a:rPr>
              <a:t>Joint limits and robot facts filled in from the handshake, plus your own constants. As text, or as a lookup tool.</a:t>
            </a:r>
            <a:endParaRPr lang="en-US" sz="1400" dirty="0"/>
          </a:p>
        </p:txBody>
      </p:sp>
      <p:sp>
        <p:nvSpPr>
          <p:cNvPr id="16" name="Text 11"/>
          <p:cNvSpPr/>
          <p:nvPr/>
        </p:nvSpPr>
        <p:spPr>
          <a:xfrm>
            <a:off x="812767" y="5098604"/>
            <a:ext cx="10883460" cy="283121"/>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46505C"/>
                </a:solidFill>
                <a:latin typeface="IBM Plex Sans" pitchFamily="34" charset="0"/>
                <a:ea typeface="IBM Plex Sans" pitchFamily="34" charset="-122"/>
                <a:cs typeface="IBM Plex Sans" pitchFamily="34" charset="-120"/>
              </a:rPr>
              <a:t>Unreadable replies</a:t>
            </a:r>
            <a:r>
              <a:rPr lang="en-US" sz="1400" dirty="0">
                <a:solidFill>
                  <a:srgbClr val="46505C"/>
                </a:solidFill>
                <a:latin typeface="IBM Plex Sans" pitchFamily="34" charset="0"/>
                <a:ea typeface="IBM Plex Sans" pitchFamily="34" charset="-122"/>
                <a:cs typeface="IBM Plex Sans" pitchFamily="34" charset="-120"/>
              </a:rPr>
              <a:t> become invalid commands, handled and logged like any other controller's.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4520C"/>
                </a:solidFill>
                <a:latin typeface="IBM Plex Sans" pitchFamily="34" charset="0"/>
                <a:ea typeface="IBM Plex Sans" pitchFamily="34" charset="-122"/>
                <a:cs typeface="IBM Plex Sans" pitchFamily="34" charset="-120"/>
              </a:rPr>
              <a:t>CODE LAYOUT</a:t>
            </a:r>
            <a:endParaRPr lang="en-US" sz="1200" dirty="0"/>
          </a:p>
        </p:txBody>
      </p:sp>
      <p:sp>
        <p:nvSpPr>
          <p:cNvPr id="3" name="Text 1"/>
          <p:cNvSpPr/>
          <p:nvPr/>
        </p:nvSpPr>
        <p:spPr>
          <a:xfrm>
            <a:off x="812767" y="1127621"/>
            <a:ext cx="10883460"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11A24"/>
                </a:solidFill>
                <a:latin typeface="IBM Plex Sans" pitchFamily="34" charset="0"/>
                <a:ea typeface="IBM Plex Sans" pitchFamily="34" charset="-122"/>
                <a:cs typeface="IBM Plex Sans" pitchFamily="34" charset="-120"/>
              </a:rPr>
              <a:t>Two packages, one per process</a:t>
            </a:r>
            <a:endParaRPr lang="en-US" sz="3200" dirty="0"/>
          </a:p>
        </p:txBody>
      </p:sp>
      <p:sp>
        <p:nvSpPr>
          <p:cNvPr id="4" name="Shape 2"/>
          <p:cNvSpPr/>
          <p:nvPr/>
        </p:nvSpPr>
        <p:spPr>
          <a:xfrm>
            <a:off x="812767" y="1899704"/>
            <a:ext cx="5181616" cy="2564639"/>
          </a:xfrm>
          <a:prstGeom prst="roundRect">
            <a:avLst>
              <a:gd name="adj" fmla="val 3962"/>
            </a:avLst>
          </a:prstGeom>
          <a:solidFill>
            <a:srgbClr val="111A24"/>
          </a:solidFill>
          <a:ln/>
        </p:spPr>
      </p:sp>
      <p:sp>
        <p:nvSpPr>
          <p:cNvPr id="5" name="Text 3"/>
          <p:cNvSpPr/>
          <p:nvPr/>
        </p:nvSpPr>
        <p:spPr>
          <a:xfrm>
            <a:off x="1066767" y="2153704"/>
            <a:ext cx="4813825" cy="274274"/>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4EF"/>
                </a:solidFill>
                <a:latin typeface="IBM Plex Sans" pitchFamily="34" charset="0"/>
                <a:ea typeface="IBM Plex Sans" pitchFamily="34" charset="-122"/>
                <a:cs typeface="IBM Plex Sans" pitchFamily="34" charset="-120"/>
              </a:rPr>
              <a:t>Controller side, no Drake</a:t>
            </a:r>
            <a:endParaRPr lang="en-US" sz="1400" dirty="0"/>
          </a:p>
        </p:txBody>
      </p:sp>
      <p:sp>
        <p:nvSpPr>
          <p:cNvPr id="6" name="Text 4"/>
          <p:cNvSpPr/>
          <p:nvPr/>
        </p:nvSpPr>
        <p:spPr>
          <a:xfrm>
            <a:off x="1066767" y="2504114"/>
            <a:ext cx="4813825" cy="1731632"/>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E8963A"/>
                </a:solidFill>
                <a:latin typeface="JetBrains Mono" pitchFamily="34" charset="0"/>
                <a:ea typeface="JetBrains Mono" pitchFamily="34" charset="-122"/>
                <a:cs typeface="JetBrains Mono" pitchFamily="34" charset="-120"/>
              </a:rPr>
              <a:t>sdk/robobench_sdk/</a:t>
            </a:r>
            <a:endParaRPr lang="en-US" sz="1200" dirty="0"/>
          </a:p>
          <a:p>
            <a:pPr algn="l" indent="0" marL="0">
              <a:lnSpc>
                <a:spcPts val="1920"/>
              </a:lnSpc>
              <a:buNone/>
            </a:pPr>
            <a:r>
              <a:rPr lang="en-US" sz="1200" dirty="0">
                <a:solidFill>
                  <a:srgbClr val="E6E2D6"/>
                </a:solidFill>
                <a:latin typeface="JetBrains Mono" pitchFamily="34" charset="0"/>
                <a:ea typeface="JetBrains Mono" pitchFamily="34" charset="-122"/>
                <a:cs typeface="JetBrains Mono" pitchFamily="34" charset="-120"/>
              </a:rPr>
              <a:t>  specs.py</a:t>
            </a:r>
            <a:endParaRPr lang="en-US" sz="1200" dirty="0"/>
          </a:p>
          <a:p>
            <a:pPr algn="l" indent="0" marL="0">
              <a:lnSpc>
                <a:spcPts val="1920"/>
              </a:lnSpc>
              <a:buNone/>
            </a:pPr>
            <a:r>
              <a:rPr lang="en-US" sz="1200" dirty="0">
                <a:solidFill>
                  <a:srgbClr val="E6E2D6"/>
                </a:solidFill>
                <a:latin typeface="JetBrains Mono" pitchFamily="34" charset="0"/>
                <a:ea typeface="JetBrains Mono" pitchFamily="34" charset="-122"/>
                <a:cs typeface="JetBrains Mono" pitchFamily="34" charset="-120"/>
              </a:rPr>
              <a:t>  controller.py</a:t>
            </a:r>
            <a:endParaRPr lang="en-US" sz="1200" dirty="0"/>
          </a:p>
          <a:p>
            <a:pPr algn="l" indent="0" marL="0">
              <a:lnSpc>
                <a:spcPts val="1920"/>
              </a:lnSpc>
              <a:buNone/>
            </a:pPr>
            <a:r>
              <a:rPr lang="en-US" sz="1200" dirty="0">
                <a:solidFill>
                  <a:srgbClr val="E6E2D6"/>
                </a:solidFill>
                <a:latin typeface="JetBrains Mono" pitchFamily="34" charset="0"/>
                <a:ea typeface="JetBrains Mono" pitchFamily="34" charset="-122"/>
                <a:cs typeface="JetBrains Mono" pitchFamily="34" charset="-120"/>
              </a:rPr>
              <a:t>  protocol.py</a:t>
            </a:r>
            <a:endParaRPr lang="en-US" sz="1200" dirty="0"/>
          </a:p>
          <a:p>
            <a:pPr algn="l" indent="0" marL="0">
              <a:lnSpc>
                <a:spcPts val="1920"/>
              </a:lnSpc>
              <a:buNone/>
            </a:pPr>
            <a:r>
              <a:rPr lang="en-US" sz="1200" dirty="0">
                <a:solidFill>
                  <a:srgbClr val="E6E2D6"/>
                </a:solidFill>
                <a:latin typeface="JetBrains Mono" pitchFamily="34" charset="0"/>
                <a:ea typeface="JetBrains Mono" pitchFamily="34" charset="-122"/>
                <a:cs typeface="JetBrains Mono" pitchFamily="34" charset="-120"/>
              </a:rPr>
              <a:t>  transport.py</a:t>
            </a:r>
            <a:endParaRPr lang="en-US" sz="1200" dirty="0"/>
          </a:p>
          <a:p>
            <a:pPr algn="l" indent="0" marL="0">
              <a:lnSpc>
                <a:spcPts val="1920"/>
              </a:lnSpc>
              <a:buNone/>
            </a:pPr>
            <a:r>
              <a:rPr lang="en-US" sz="1200" dirty="0">
                <a:solidFill>
                  <a:srgbClr val="E6E2D6"/>
                </a:solidFill>
                <a:latin typeface="JetBrains Mono" pitchFamily="34" charset="0"/>
                <a:ea typeface="JetBrains Mono" pitchFamily="34" charset="-122"/>
                <a:cs typeface="JetBrains Mono" pitchFamily="34" charset="-120"/>
              </a:rPr>
              <a:t>  server.py</a:t>
            </a:r>
            <a:endParaRPr lang="en-US" sz="1200" dirty="0"/>
          </a:p>
          <a:p>
            <a:pPr algn="l" indent="0" marL="0">
              <a:lnSpc>
                <a:spcPts val="1920"/>
              </a:lnSpc>
              <a:buNone/>
            </a:pPr>
            <a:r>
              <a:rPr lang="en-US" sz="1200" dirty="0">
                <a:solidFill>
                  <a:srgbClr val="E6E2D6"/>
                </a:solidFill>
                <a:latin typeface="JetBrains Mono" pitchFamily="34" charset="0"/>
                <a:ea typeface="JetBrains Mono" pitchFamily="34" charset="-122"/>
                <a:cs typeface="JetBrains Mono" pitchFamily="34" charset="-120"/>
              </a:rPr>
              <a:t>  llm/</a:t>
            </a:r>
            <a:endParaRPr lang="en-US" sz="1200" dirty="0"/>
          </a:p>
        </p:txBody>
      </p:sp>
      <p:sp>
        <p:nvSpPr>
          <p:cNvPr id="7" name="Shape 5"/>
          <p:cNvSpPr/>
          <p:nvPr/>
        </p:nvSpPr>
        <p:spPr>
          <a:xfrm>
            <a:off x="6197534" y="1899704"/>
            <a:ext cx="5181699" cy="2564639"/>
          </a:xfrm>
          <a:prstGeom prst="roundRect">
            <a:avLst>
              <a:gd name="adj" fmla="val 3962"/>
            </a:avLst>
          </a:prstGeom>
          <a:solidFill>
            <a:srgbClr val="111A24"/>
          </a:solidFill>
          <a:ln/>
        </p:spPr>
      </p:sp>
      <p:sp>
        <p:nvSpPr>
          <p:cNvPr id="8" name="Text 6"/>
          <p:cNvSpPr/>
          <p:nvPr/>
        </p:nvSpPr>
        <p:spPr>
          <a:xfrm>
            <a:off x="6451534" y="2153704"/>
            <a:ext cx="4813910" cy="274274"/>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4EF"/>
                </a:solidFill>
                <a:latin typeface="IBM Plex Sans" pitchFamily="34" charset="0"/>
                <a:ea typeface="IBM Plex Sans" pitchFamily="34" charset="-122"/>
                <a:cs typeface="IBM Plex Sans" pitchFamily="34" charset="-120"/>
              </a:rPr>
              <a:t>Benchmark side, with Drake</a:t>
            </a:r>
            <a:endParaRPr lang="en-US" sz="1400" dirty="0"/>
          </a:p>
        </p:txBody>
      </p:sp>
      <p:sp>
        <p:nvSpPr>
          <p:cNvPr id="9" name="Text 7"/>
          <p:cNvSpPr/>
          <p:nvPr/>
        </p:nvSpPr>
        <p:spPr>
          <a:xfrm>
            <a:off x="6451534" y="2504114"/>
            <a:ext cx="1330887" cy="1731632"/>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E8963A"/>
                </a:solidFill>
                <a:latin typeface="JetBrains Mono" pitchFamily="34" charset="0"/>
                <a:ea typeface="JetBrains Mono" pitchFamily="34" charset="-122"/>
                <a:cs typeface="JetBrains Mono" pitchFamily="34" charset="-120"/>
              </a:rPr>
              <a:t>src/robobench/</a:t>
            </a:r>
            <a:endParaRPr lang="en-US" sz="1200" dirty="0"/>
          </a:p>
          <a:p>
            <a:pPr algn="l" indent="0" marL="0">
              <a:lnSpc>
                <a:spcPts val="1920"/>
              </a:lnSpc>
              <a:buNone/>
            </a:pPr>
            <a:r>
              <a:rPr lang="en-US" sz="1200" dirty="0">
                <a:solidFill>
                  <a:srgbClr val="E6E2D6"/>
                </a:solidFill>
                <a:latin typeface="JetBrains Mono" pitchFamily="34" charset="0"/>
                <a:ea typeface="JetBrains Mono" pitchFamily="34" charset="-122"/>
                <a:cs typeface="JetBrains Mono" pitchFamily="34" charset="-120"/>
              </a:rPr>
              <a:t>  config.py</a:t>
            </a:r>
            <a:endParaRPr lang="en-US" sz="1200" dirty="0"/>
          </a:p>
          <a:p>
            <a:pPr algn="l" indent="0" marL="0">
              <a:lnSpc>
                <a:spcPts val="1920"/>
              </a:lnSpc>
              <a:buNone/>
            </a:pPr>
            <a:r>
              <a:rPr lang="en-US" sz="1200" dirty="0">
                <a:solidFill>
                  <a:srgbClr val="E6E2D6"/>
                </a:solidFill>
                <a:latin typeface="JetBrains Mono" pitchFamily="34" charset="0"/>
                <a:ea typeface="JetBrains Mono" pitchFamily="34" charset="-122"/>
                <a:cs typeface="JetBrains Mono" pitchFamily="34" charset="-120"/>
              </a:rPr>
              <a:t>  robots/</a:t>
            </a:r>
            <a:endParaRPr lang="en-US" sz="1200" dirty="0"/>
          </a:p>
          <a:p>
            <a:pPr algn="l" indent="0" marL="0">
              <a:lnSpc>
                <a:spcPts val="1920"/>
              </a:lnSpc>
              <a:buNone/>
            </a:pPr>
            <a:r>
              <a:rPr lang="en-US" sz="1200" dirty="0">
                <a:solidFill>
                  <a:srgbClr val="E6E2D6"/>
                </a:solidFill>
                <a:latin typeface="JetBrains Mono" pitchFamily="34" charset="0"/>
                <a:ea typeface="JetBrains Mono" pitchFamily="34" charset="-122"/>
                <a:cs typeface="JetBrains Mono" pitchFamily="34" charset="-120"/>
              </a:rPr>
              <a:t>  sensors/</a:t>
            </a:r>
            <a:endParaRPr lang="en-US" sz="1200" dirty="0"/>
          </a:p>
          <a:p>
            <a:pPr algn="l" indent="0" marL="0">
              <a:lnSpc>
                <a:spcPts val="1920"/>
              </a:lnSpc>
              <a:buNone/>
            </a:pPr>
            <a:r>
              <a:rPr lang="en-US" sz="1200" dirty="0">
                <a:solidFill>
                  <a:srgbClr val="E6E2D6"/>
                </a:solidFill>
                <a:latin typeface="JetBrains Mono" pitchFamily="34" charset="0"/>
                <a:ea typeface="JetBrains Mono" pitchFamily="34" charset="-122"/>
                <a:cs typeface="JetBrains Mono" pitchFamily="34" charset="-120"/>
              </a:rPr>
              <a:t>  scenes/</a:t>
            </a:r>
            <a:endParaRPr lang="en-US" sz="1200" dirty="0"/>
          </a:p>
          <a:p>
            <a:pPr algn="l" indent="0" marL="0">
              <a:lnSpc>
                <a:spcPts val="1920"/>
              </a:lnSpc>
              <a:buNone/>
            </a:pPr>
            <a:r>
              <a:rPr lang="en-US" sz="1200" dirty="0">
                <a:solidFill>
                  <a:srgbClr val="E6E2D6"/>
                </a:solidFill>
                <a:latin typeface="JetBrains Mono" pitchFamily="34" charset="0"/>
                <a:ea typeface="JetBrains Mono" pitchFamily="34" charset="-122"/>
                <a:cs typeface="JetBrains Mono" pitchFamily="34" charset="-120"/>
              </a:rPr>
              <a:t>  scenarios/</a:t>
            </a:r>
            <a:endParaRPr lang="en-US" sz="1200" dirty="0"/>
          </a:p>
          <a:p>
            <a:pPr algn="l" indent="0" marL="0">
              <a:lnSpc>
                <a:spcPts val="1920"/>
              </a:lnSpc>
              <a:buNone/>
            </a:pPr>
            <a:r>
              <a:rPr lang="en-US" sz="1200" dirty="0">
                <a:solidFill>
                  <a:srgbClr val="E6E2D6"/>
                </a:solidFill>
                <a:latin typeface="JetBrains Mono" pitchFamily="34" charset="0"/>
                <a:ea typeface="JetBrains Mono" pitchFamily="34" charset="-122"/>
                <a:cs typeface="JetBrains Mono" pitchFamily="34" charset="-120"/>
              </a:rPr>
              <a:t>  validation/</a:t>
            </a:r>
            <a:endParaRPr lang="en-US" sz="1200" dirty="0"/>
          </a:p>
        </p:txBody>
      </p:sp>
      <p:sp>
        <p:nvSpPr>
          <p:cNvPr id="10" name="Text 8"/>
          <p:cNvSpPr/>
          <p:nvPr/>
        </p:nvSpPr>
        <p:spPr>
          <a:xfrm>
            <a:off x="7934771" y="2504114"/>
            <a:ext cx="1789355" cy="1731632"/>
          </a:xfrm>
          <a:prstGeom prst="rect">
            <a:avLst/>
          </a:prstGeom>
          <a:noFill/>
          <a:ln/>
        </p:spPr>
        <p:txBody>
          <a:bodyPr wrap="square" lIns="0" tIns="0" rIns="0" bIns="0" rtlCol="0" anchor="t">
            <a:normAutofit/>
          </a:bodyPr>
          <a:lstStyle/>
          <a:p>
            <a:pPr algn="l" indent="0" marL="0">
              <a:lnSpc>
                <a:spcPts val="1920"/>
              </a:lnSpc>
              <a:buNone/>
            </a:pPr>
            <a:endParaRPr lang="en-US" sz="1200" dirty="0"/>
          </a:p>
          <a:p>
            <a:pPr algn="l" indent="0" marL="0">
              <a:lnSpc>
                <a:spcPts val="1920"/>
              </a:lnSpc>
              <a:buNone/>
            </a:pPr>
            <a:r>
              <a:rPr lang="en-US" sz="1200" dirty="0">
                <a:solidFill>
                  <a:srgbClr val="E6E2D6"/>
                </a:solidFill>
                <a:latin typeface="JetBrains Mono" pitchFamily="34" charset="0"/>
                <a:ea typeface="JetBrains Mono" pitchFamily="34" charset="-122"/>
                <a:cs typeface="JetBrains Mono" pitchFamily="34" charset="-120"/>
              </a:rPr>
              <a:t>metrics/</a:t>
            </a:r>
            <a:endParaRPr lang="en-US" sz="1200" dirty="0"/>
          </a:p>
          <a:p>
            <a:pPr algn="l" indent="0" marL="0">
              <a:lnSpc>
                <a:spcPts val="1920"/>
              </a:lnSpc>
              <a:buNone/>
            </a:pPr>
            <a:r>
              <a:rPr lang="en-US" sz="1200" dirty="0">
                <a:solidFill>
                  <a:srgbClr val="E6E2D6"/>
                </a:solidFill>
                <a:latin typeface="JetBrains Mono" pitchFamily="34" charset="0"/>
                <a:ea typeface="JetBrains Mono" pitchFamily="34" charset="-122"/>
                <a:cs typeface="JetBrains Mono" pitchFamily="34" charset="-120"/>
              </a:rPr>
              <a:t>controller_process/</a:t>
            </a:r>
            <a:endParaRPr lang="en-US" sz="1200" dirty="0"/>
          </a:p>
          <a:p>
            <a:pPr algn="l" indent="0" marL="0">
              <a:lnSpc>
                <a:spcPts val="1920"/>
              </a:lnSpc>
              <a:buNone/>
            </a:pPr>
            <a:r>
              <a:rPr lang="en-US" sz="1200" dirty="0">
                <a:solidFill>
                  <a:srgbClr val="E6E2D6"/>
                </a:solidFill>
                <a:latin typeface="JetBrains Mono" pitchFamily="34" charset="0"/>
                <a:ea typeface="JetBrains Mono" pitchFamily="34" charset="-122"/>
                <a:cs typeface="JetBrains Mono" pitchFamily="34" charset="-120"/>
              </a:rPr>
              <a:t>sim/</a:t>
            </a:r>
            <a:endParaRPr lang="en-US" sz="1200" dirty="0"/>
          </a:p>
          <a:p>
            <a:pPr algn="l" indent="0" marL="0">
              <a:lnSpc>
                <a:spcPts val="1920"/>
              </a:lnSpc>
              <a:buNone/>
            </a:pPr>
            <a:r>
              <a:rPr lang="en-US" sz="1200" dirty="0">
                <a:solidFill>
                  <a:srgbClr val="E6E2D6"/>
                </a:solidFill>
                <a:latin typeface="JetBrains Mono" pitchFamily="34" charset="0"/>
                <a:ea typeface="JetBrains Mono" pitchFamily="34" charset="-122"/>
                <a:cs typeface="JetBrains Mono" pitchFamily="34" charset="-120"/>
              </a:rPr>
              <a:t>runner/</a:t>
            </a:r>
            <a:endParaRPr lang="en-US" sz="1200" dirty="0"/>
          </a:p>
          <a:p>
            <a:pPr algn="l" indent="0" marL="0">
              <a:lnSpc>
                <a:spcPts val="1920"/>
              </a:lnSpc>
              <a:buNone/>
            </a:pPr>
            <a:r>
              <a:rPr lang="en-US" sz="1200" dirty="0">
                <a:solidFill>
                  <a:srgbClr val="E6E2D6"/>
                </a:solidFill>
                <a:latin typeface="JetBrains Mono" pitchFamily="34" charset="0"/>
                <a:ea typeface="JetBrains Mono" pitchFamily="34" charset="-122"/>
                <a:cs typeface="JetBrains Mono" pitchFamily="34" charset="-120"/>
              </a:rPr>
              <a:t>results/</a:t>
            </a:r>
            <a:endParaRPr lang="en-US" sz="1200" dirty="0"/>
          </a:p>
          <a:p>
            <a:pPr algn="l" indent="0" marL="0">
              <a:lnSpc>
                <a:spcPts val="1920"/>
              </a:lnSpc>
              <a:buNone/>
            </a:pPr>
            <a:r>
              <a:rPr lang="en-US" sz="1200" dirty="0">
                <a:solidFill>
                  <a:srgbClr val="E6E2D6"/>
                </a:solidFill>
                <a:latin typeface="JetBrains Mono" pitchFamily="34" charset="0"/>
                <a:ea typeface="JetBrains Mono" pitchFamily="34" charset="-122"/>
                <a:cs typeface="JetBrains Mono" pitchFamily="34" charset="-120"/>
              </a:rPr>
              <a:t>cli.py</a:t>
            </a:r>
            <a:endParaRPr lang="en-US" sz="1200" dirty="0"/>
          </a:p>
        </p:txBody>
      </p:sp>
      <p:sp>
        <p:nvSpPr>
          <p:cNvPr id="11" name="Text 9"/>
          <p:cNvSpPr/>
          <p:nvPr/>
        </p:nvSpPr>
        <p:spPr>
          <a:xfrm>
            <a:off x="812767" y="4769110"/>
            <a:ext cx="10883460" cy="28312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6505C"/>
                </a:solidFill>
                <a:latin typeface="IBM Plex Sans" pitchFamily="34" charset="0"/>
                <a:ea typeface="IBM Plex Sans" pitchFamily="34" charset="-122"/>
                <a:cs typeface="IBM Plex Sans" pitchFamily="34" charset="-120"/>
              </a:rPr>
              <a:t>Around 60 modules. Interfaces, data types and docstrings are defined, every module imports, and the test registry works.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8963A"/>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11A24"/>
                </a:solidFill>
                <a:latin typeface="IBM Plex Sans" pitchFamily="34" charset="0"/>
                <a:ea typeface="IBM Plex Sans" pitchFamily="34" charset="-122"/>
                <a:cs typeface="IBM Plex Sans" pitchFamily="34" charset="-120"/>
              </a:rPr>
              <a:t>WHAT'S NEXT</a:t>
            </a:r>
            <a:endParaRPr lang="en-US" sz="1200" dirty="0"/>
          </a:p>
        </p:txBody>
      </p:sp>
      <p:sp>
        <p:nvSpPr>
          <p:cNvPr id="3" name="Text 1"/>
          <p:cNvSpPr/>
          <p:nvPr/>
        </p:nvSpPr>
        <p:spPr>
          <a:xfrm>
            <a:off x="812767" y="1127621"/>
            <a:ext cx="10883460"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11A24"/>
                </a:solidFill>
                <a:latin typeface="IBM Plex Sans" pitchFamily="34" charset="0"/>
                <a:ea typeface="IBM Plex Sans" pitchFamily="34" charset="-122"/>
                <a:cs typeface="IBM Plex Sans" pitchFamily="34" charset="-120"/>
              </a:rPr>
              <a:t>From skeleton to a first end-to-end run</a:t>
            </a:r>
            <a:endParaRPr lang="en-US" sz="3200" dirty="0"/>
          </a:p>
        </p:txBody>
      </p:sp>
      <p:sp>
        <p:nvSpPr>
          <p:cNvPr id="4" name="Text 2"/>
          <p:cNvSpPr/>
          <p:nvPr/>
        </p:nvSpPr>
        <p:spPr>
          <a:xfrm>
            <a:off x="812767" y="1899704"/>
            <a:ext cx="10883460" cy="1796868"/>
          </a:xfrm>
          <a:prstGeom prst="rect">
            <a:avLst/>
          </a:prstGeom>
          <a:noFill/>
          <a:ln/>
        </p:spPr>
        <p:txBody>
          <a:bodyPr wrap="square" lIns="0" tIns="0" rIns="0" bIns="0" rtlCol="0" anchor="t">
            <a:normAutofit/>
          </a:bodyPr>
          <a:lstStyle/>
          <a:p>
            <a:pPr algn="l" marL="274320" indent="-274320">
              <a:lnSpc>
                <a:spcPts val="2790"/>
              </a:lnSpc>
              <a:buSzPct val="100000"/>
              <a:buFontTx/>
              <a:buAutoNum type="arabicPeriod" startAt="1"/>
            </a:pPr>
            <a:r>
              <a:rPr lang="en-US" sz="1800" dirty="0">
                <a:solidFill>
                  <a:srgbClr val="111A24"/>
                </a:solidFill>
                <a:latin typeface="IBM Plex Sans" pitchFamily="34" charset="0"/>
                <a:ea typeface="IBM Plex Sans" pitchFamily="34" charset="-122"/>
                <a:cs typeface="IBM Plex Sans" pitchFamily="34" charset="-120"/>
              </a:rPr>
              <a:t>Messages and transport, so the two processes can talk</a:t>
            </a:r>
            <a:endParaRPr lang="en-US" sz="1800" dirty="0"/>
          </a:p>
          <a:p>
            <a:pPr algn="l" marL="274320" indent="-274320">
              <a:lnSpc>
                <a:spcPts val="2790"/>
              </a:lnSpc>
              <a:buSzPct val="100000"/>
              <a:buFontTx/>
              <a:buAutoNum type="arabicPeriod" startAt="1"/>
            </a:pPr>
            <a:r>
              <a:rPr lang="en-US" sz="1800" dirty="0">
                <a:solidFill>
                  <a:srgbClr val="111A24"/>
                </a:solidFill>
                <a:latin typeface="IBM Plex Sans" pitchFamily="34" charset="0"/>
                <a:ea typeface="IBM Plex Sans" pitchFamily="34" charset="-122"/>
                <a:cs typeface="IBM Plex Sans" pitchFamily="34" charset="-120"/>
              </a:rPr>
              <a:t>LEAP hand, joint-position commands and the simulation environment</a:t>
            </a:r>
            <a:endParaRPr lang="en-US" sz="1800" dirty="0"/>
          </a:p>
          <a:p>
            <a:pPr algn="l" marL="274320" indent="-274320">
              <a:lnSpc>
                <a:spcPts val="2790"/>
              </a:lnSpc>
              <a:buSzPct val="100000"/>
              <a:buFontTx/>
              <a:buAutoNum type="arabicPeriod" startAt="1"/>
            </a:pPr>
            <a:r>
              <a:rPr lang="en-US" sz="1800" dirty="0">
                <a:solidFill>
                  <a:srgbClr val="111A24"/>
                </a:solidFill>
                <a:latin typeface="IBM Plex Sans" pitchFamily="34" charset="0"/>
                <a:ea typeface="IBM Plex Sans" pitchFamily="34" charset="-122"/>
                <a:cs typeface="IBM Plex Sans" pitchFamily="34" charset="-120"/>
              </a:rPr>
              <a:t>Invalid-command handling, limit checks and the lockstep loop</a:t>
            </a:r>
            <a:endParaRPr lang="en-US" sz="1800" dirty="0"/>
          </a:p>
          <a:p>
            <a:pPr algn="l" marL="274320" indent="-274320">
              <a:lnSpc>
                <a:spcPts val="2790"/>
              </a:lnSpc>
              <a:buSzPct val="100000"/>
              <a:buFontTx/>
              <a:buAutoNum type="arabicPeriod" startAt="1"/>
            </a:pPr>
            <a:r>
              <a:rPr lang="en-US" sz="1800" dirty="0">
                <a:solidFill>
                  <a:srgbClr val="111A24"/>
                </a:solidFill>
                <a:latin typeface="IBM Plex Sans" pitchFamily="34" charset="0"/>
                <a:ea typeface="IBM Plex Sans" pitchFamily="34" charset="-122"/>
                <a:cs typeface="IBM Plex Sans" pitchFamily="34" charset="-120"/>
              </a:rPr>
              <a:t>Cube reorientation, run end to end with a simple controller</a:t>
            </a:r>
            <a:endParaRPr lang="en-US" sz="1800" dirty="0"/>
          </a:p>
          <a:p>
            <a:pPr algn="l" marL="274320" indent="-274320">
              <a:lnSpc>
                <a:spcPts val="2790"/>
              </a:lnSpc>
              <a:buSzPct val="100000"/>
              <a:buFontTx/>
              <a:buAutoNum type="arabicPeriod" startAt="1"/>
            </a:pPr>
            <a:r>
              <a:rPr lang="en-US" sz="1800" dirty="0">
                <a:solidFill>
                  <a:srgbClr val="111A24"/>
                </a:solidFill>
                <a:latin typeface="IBM Plex Sans" pitchFamily="34" charset="0"/>
                <a:ea typeface="IBM Plex Sans" pitchFamily="34" charset="-122"/>
                <a:cs typeface="IBM Plex Sans" pitchFamily="34" charset="-120"/>
              </a:rPr>
              <a:t>Runner and results, then the G1, the Trossen cell and real-time mode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robobench Design Overview</dc:title>
  <dc:subject>PptxGenJS Presentation</dc:subject>
  <dc:creator>PptxGenJS</dc:creator>
  <cp:lastModifiedBy>PptxGenJS</cp:lastModifiedBy>
  <cp:revision>1</cp:revision>
  <dcterms:created xsi:type="dcterms:W3CDTF">2026-09-28T20:59:35Z</dcterms:created>
  <dcterms:modified xsi:type="dcterms:W3CDTF">2026-09-28T20:59:35Z</dcterms:modified>
</cp:coreProperties>
</file>